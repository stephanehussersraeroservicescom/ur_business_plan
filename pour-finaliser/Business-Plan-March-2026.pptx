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4630400" cy="8229600"/>
  <p:notesSz cx="8229600" cy="14630400"/>
  <p:embeddedFontLst>
    <p:embeddedFont>
      <p:font typeface="Quattrocento"/>
      <p:regular r:id="rId35"/>
    </p:embeddedFont>
    <p:embeddedFont>
      <p:font typeface="Quattrocento"/>
      <p:regular r:id="rId36"/>
    </p:embeddedFont>
    <p:embeddedFont>
      <p:font typeface="Quattrocento"/>
      <p:regular r:id="rId37"/>
    </p:embeddedFont>
    <p:embeddedFont>
      <p:font typeface="Quattrocento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Relationship Id="rId37" Type="http://schemas.openxmlformats.org/officeDocument/2006/relationships/font" Target="fonts/font3.fntdata"/><Relationship Id="rId3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image" Target="../media/image-15-4.png"/><Relationship Id="rId5" Type="http://schemas.openxmlformats.org/officeDocument/2006/relationships/image" Target="../media/image-15-5.svg"/><Relationship Id="rId6" Type="http://schemas.openxmlformats.org/officeDocument/2006/relationships/image" Target="../media/image-15-6.png"/><Relationship Id="rId7" Type="http://schemas.openxmlformats.org/officeDocument/2006/relationships/image" Target="../media/image-15-7.svg"/><Relationship Id="rId8" Type="http://schemas.openxmlformats.org/officeDocument/2006/relationships/image" Target="../media/image-15-8.png"/><Relationship Id="rId9" Type="http://schemas.openxmlformats.org/officeDocument/2006/relationships/image" Target="../media/image-15-9.svg"/><Relationship Id="rId10" Type="http://schemas.openxmlformats.org/officeDocument/2006/relationships/slideLayout" Target="../slideLayouts/slideLayout16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2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8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mailto:stephane.husser@urban-rig.eu" TargetMode="Externa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29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825466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Urban Rig Europe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37724" y="2755463"/>
            <a:ext cx="7468553" cy="170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Business Plan — March 2026</a:t>
            </a:r>
            <a:endParaRPr lang="en-US" sz="5350" dirty="0"/>
          </a:p>
        </p:txBody>
      </p:sp>
      <p:sp>
        <p:nvSpPr>
          <p:cNvPr id="5" name="Text 2"/>
          <p:cNvSpPr/>
          <p:nvPr/>
        </p:nvSpPr>
        <p:spPr>
          <a:xfrm>
            <a:off x="837724" y="4769763"/>
            <a:ext cx="7468553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first European deployment of a patented, continuous superheated-steam pyrolysis system — converting mixed, unsorted waste into marketable oil, biochar, and metals, with zero dioxin emissions.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37724" y="6010513"/>
            <a:ext cx="1479709" cy="393502"/>
          </a:xfrm>
          <a:prstGeom prst="roundRect">
            <a:avLst>
              <a:gd name="adj" fmla="val 6388"/>
            </a:avLst>
          </a:prstGeom>
          <a:solidFill>
            <a:srgbClr val="441709"/>
          </a:solidFill>
          <a:ln/>
        </p:spPr>
      </p:sp>
      <p:sp>
        <p:nvSpPr>
          <p:cNvPr id="7" name="Text 4"/>
          <p:cNvSpPr/>
          <p:nvPr/>
        </p:nvSpPr>
        <p:spPr>
          <a:xfrm>
            <a:off x="963335" y="6073259"/>
            <a:ext cx="1228487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BUSINESS PLAN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8118" y="571024"/>
            <a:ext cx="331422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088118" y="1174790"/>
            <a:ext cx="10454045" cy="845106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358" y="1190030"/>
            <a:ext cx="563404" cy="814626"/>
          </a:xfrm>
          <a:prstGeom prst="roundRect">
            <a:avLst>
              <a:gd name="adj" fmla="val 504"/>
            </a:avLst>
          </a:prstGeom>
          <a:solidFill>
            <a:srgbClr val="315251"/>
          </a:solidFill>
          <a:ln/>
        </p:spPr>
      </p:sp>
      <p:sp>
        <p:nvSpPr>
          <p:cNvPr id="5" name="Text 3"/>
          <p:cNvSpPr/>
          <p:nvPr/>
        </p:nvSpPr>
        <p:spPr>
          <a:xfrm>
            <a:off x="2279452" y="1465302"/>
            <a:ext cx="2112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761417" y="1330881"/>
            <a:ext cx="391191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When Waste Becomes a Crisis: The Global Challenge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88118" y="2114550"/>
            <a:ext cx="10454045" cy="845106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358" y="2129790"/>
            <a:ext cx="563404" cy="814626"/>
          </a:xfrm>
          <a:prstGeom prst="roundRect">
            <a:avLst>
              <a:gd name="adj" fmla="val 504"/>
            </a:avLst>
          </a:prstGeom>
          <a:solidFill>
            <a:srgbClr val="315251"/>
          </a:solidFill>
          <a:ln/>
        </p:spPr>
      </p:sp>
      <p:sp>
        <p:nvSpPr>
          <p:cNvPr id="9" name="Text 7"/>
          <p:cNvSpPr/>
          <p:nvPr/>
        </p:nvSpPr>
        <p:spPr>
          <a:xfrm>
            <a:off x="2279452" y="2405063"/>
            <a:ext cx="2112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761417" y="2270641"/>
            <a:ext cx="457962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Solution: Transforming Waste with Urban Rig Technology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88118" y="3054310"/>
            <a:ext cx="10454045" cy="845106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358" y="3069550"/>
            <a:ext cx="563404" cy="814626"/>
          </a:xfrm>
          <a:prstGeom prst="roundRect">
            <a:avLst>
              <a:gd name="adj" fmla="val 504"/>
            </a:avLst>
          </a:prstGeom>
          <a:solidFill>
            <a:srgbClr val="315251"/>
          </a:solidFill>
          <a:ln/>
        </p:spPr>
      </p:sp>
      <p:sp>
        <p:nvSpPr>
          <p:cNvPr id="13" name="Text 11"/>
          <p:cNvSpPr/>
          <p:nvPr/>
        </p:nvSpPr>
        <p:spPr>
          <a:xfrm>
            <a:off x="2279452" y="3344823"/>
            <a:ext cx="2112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761417" y="3210401"/>
            <a:ext cx="46770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Versatility: Managing Non-Recyclable and Composite Materials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88118" y="3994071"/>
            <a:ext cx="10454045" cy="845106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358" y="4009311"/>
            <a:ext cx="563404" cy="814626"/>
          </a:xfrm>
          <a:prstGeom prst="roundRect">
            <a:avLst>
              <a:gd name="adj" fmla="val 504"/>
            </a:avLst>
          </a:prstGeom>
          <a:solidFill>
            <a:srgbClr val="315251"/>
          </a:solidFill>
          <a:ln/>
        </p:spPr>
      </p:sp>
      <p:sp>
        <p:nvSpPr>
          <p:cNvPr id="17" name="Text 15"/>
          <p:cNvSpPr/>
          <p:nvPr/>
        </p:nvSpPr>
        <p:spPr>
          <a:xfrm>
            <a:off x="2279452" y="4284583"/>
            <a:ext cx="2112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761417" y="4150162"/>
            <a:ext cx="308038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Market Opportunities and Business Cases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88118" y="4933831"/>
            <a:ext cx="10454045" cy="845106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358" y="4949071"/>
            <a:ext cx="563404" cy="814626"/>
          </a:xfrm>
          <a:prstGeom prst="roundRect">
            <a:avLst>
              <a:gd name="adj" fmla="val 504"/>
            </a:avLst>
          </a:prstGeom>
          <a:solidFill>
            <a:srgbClr val="315251"/>
          </a:solidFill>
          <a:ln/>
        </p:spPr>
      </p:sp>
      <p:sp>
        <p:nvSpPr>
          <p:cNvPr id="21" name="Text 19"/>
          <p:cNvSpPr/>
          <p:nvPr/>
        </p:nvSpPr>
        <p:spPr>
          <a:xfrm>
            <a:off x="2279452" y="5224343"/>
            <a:ext cx="2112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2761417" y="5089922"/>
            <a:ext cx="22431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Business Model and Revenues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88118" y="5873591"/>
            <a:ext cx="10454045" cy="845106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03358" y="5888831"/>
            <a:ext cx="563404" cy="814626"/>
          </a:xfrm>
          <a:prstGeom prst="roundRect">
            <a:avLst>
              <a:gd name="adj" fmla="val 504"/>
            </a:avLst>
          </a:prstGeom>
          <a:solidFill>
            <a:srgbClr val="315251"/>
          </a:solidFill>
          <a:ln/>
        </p:spPr>
      </p:sp>
      <p:sp>
        <p:nvSpPr>
          <p:cNvPr id="25" name="Text 23"/>
          <p:cNvSpPr/>
          <p:nvPr/>
        </p:nvSpPr>
        <p:spPr>
          <a:xfrm>
            <a:off x="2279452" y="6164104"/>
            <a:ext cx="2112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2761417" y="6029682"/>
            <a:ext cx="329862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Deployment Economics &amp; Financial Returns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088118" y="6813352"/>
            <a:ext cx="10454045" cy="845106"/>
          </a:xfrm>
          <a:prstGeom prst="roundRect">
            <a:avLst>
              <a:gd name="adj" fmla="val 2500"/>
            </a:avLst>
          </a:prstGeom>
          <a:solidFill>
            <a:srgbClr val="123332"/>
          </a:solidFill>
          <a:ln w="15240">
            <a:solidFill>
              <a:srgbClr val="4A6B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358" y="6828592"/>
            <a:ext cx="563404" cy="814626"/>
          </a:xfrm>
          <a:prstGeom prst="roundRect">
            <a:avLst>
              <a:gd name="adj" fmla="val 504"/>
            </a:avLst>
          </a:prstGeom>
          <a:solidFill>
            <a:srgbClr val="315251"/>
          </a:solidFill>
          <a:ln/>
        </p:spPr>
      </p:sp>
      <p:sp>
        <p:nvSpPr>
          <p:cNvPr id="29" name="Text 27"/>
          <p:cNvSpPr/>
          <p:nvPr/>
        </p:nvSpPr>
        <p:spPr>
          <a:xfrm>
            <a:off x="2279452" y="7103864"/>
            <a:ext cx="2112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2761417" y="6969443"/>
            <a:ext cx="25691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Appendix: Awards and Credentials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53453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Executive Summary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86872" y="1883450"/>
            <a:ext cx="7196971" cy="5392698"/>
          </a:xfrm>
          <a:prstGeom prst="roundRect">
            <a:avLst>
              <a:gd name="adj" fmla="val 583"/>
            </a:avLst>
          </a:prstGeom>
          <a:solidFill>
            <a:srgbClr val="2150FE"/>
          </a:solidFill>
          <a:ln/>
        </p:spPr>
      </p:sp>
      <p:sp>
        <p:nvSpPr>
          <p:cNvPr id="4" name="Text 2"/>
          <p:cNvSpPr/>
          <p:nvPr/>
        </p:nvSpPr>
        <p:spPr>
          <a:xfrm>
            <a:off x="896302" y="209288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Opportunity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96302" y="2610326"/>
            <a:ext cx="6778109" cy="2010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Urban Rig Europe presents the first European deployment of Urban Rig — a patented pyrolysis system converting mixed waste into four marketable oil fractions, biochar, and recoverable metals. Urban Rig Europe manages regional sales and programme delivery; OneWorld Corporation (Osaka) is the R&amp;D headquarters. This business plan details the technology, market, and financial case.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6302" y="4960835"/>
            <a:ext cx="6778109" cy="3369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96302" y="523005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Financial Outlook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6302" y="5747504"/>
            <a:ext cx="6778109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Projected financials include a CAPEX of €63.8M, generating €16.1M in annual revenue across five streams. With an EBITDA of €8.9M (55% margin), the model targets a 17.6% ROI and a simple payback period of approximately 7 years.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51627" y="209288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Business Model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51627" y="2610326"/>
            <a:ext cx="5548670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model is open by design. Site, feedstock strategy, scale, operating team, and capital structure are the investor's design space. Urban Rig brings the technology, the IP, and a configurable financial model.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51627" y="4159925"/>
            <a:ext cx="277975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One Non-Negotiable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51627" y="4677370"/>
            <a:ext cx="5548670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Urban Rig remains the technology partner and equipment supplier.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9023" y="1058108"/>
            <a:ext cx="7505938" cy="558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Proven Technology at Industrial Scale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759023" y="1874044"/>
            <a:ext cx="7625953" cy="1050727"/>
          </a:xfrm>
          <a:prstGeom prst="roundRect">
            <a:avLst>
              <a:gd name="adj" fmla="val 2709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948690" y="2063710"/>
            <a:ext cx="223266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Tested 2022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48690" y="2445782"/>
            <a:ext cx="724662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Asada Shokai, Noda, Japan — industrial-scale trial across nine resin types.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59023" y="3096697"/>
            <a:ext cx="7625953" cy="1340048"/>
          </a:xfrm>
          <a:prstGeom prst="roundRect">
            <a:avLst>
              <a:gd name="adj" fmla="val 2124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948690" y="3286363"/>
            <a:ext cx="223266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70–82% Oil Yield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48690" y="3668435"/>
            <a:ext cx="724662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From pure plastics. NKKK-certified oil quality at 43.27 MJ/kg — comparable to fossil diesel.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59023" y="4608671"/>
            <a:ext cx="7625953" cy="1340048"/>
          </a:xfrm>
          <a:prstGeom prst="roundRect">
            <a:avLst>
              <a:gd name="adj" fmla="val 2124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948690" y="4798338"/>
            <a:ext cx="223266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5–50× Below Limits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48690" y="5180409"/>
            <a:ext cx="724662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Emissions verified by KANSO Technos — 5 to 50 times below French incineration standards.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59023" y="6120646"/>
            <a:ext cx="7625953" cy="1050727"/>
          </a:xfrm>
          <a:prstGeom prst="roundRect">
            <a:avLst>
              <a:gd name="adj" fmla="val 2709"/>
            </a:avLst>
          </a:prstGeom>
          <a:solidFill>
            <a:srgbClr val="315251"/>
          </a:solidFill>
          <a:ln/>
        </p:spPr>
      </p:sp>
      <p:sp>
        <p:nvSpPr>
          <p:cNvPr id="14" name="Text 11"/>
          <p:cNvSpPr/>
          <p:nvPr/>
        </p:nvSpPr>
        <p:spPr>
          <a:xfrm>
            <a:off x="948690" y="6310313"/>
            <a:ext cx="2266355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Modular &amp; Deployable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48690" y="6692384"/>
            <a:ext cx="724662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Ships in 7 truck sections. URC-2000 (200 T/day nominal) operates with ~15 staff.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57369"/>
            <a:ext cx="1198304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Illustrative Economics — URC-2000, France Base Case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127647"/>
            <a:ext cx="2980015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€63.8M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95613" y="308050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CAPEX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079557" y="2127647"/>
            <a:ext cx="2980134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€16.1M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337566" y="308050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Annual Revenue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37724" y="3912037"/>
            <a:ext cx="2980015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55%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95613" y="486489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EBITDA Margin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37724" y="5382339"/>
            <a:ext cx="298001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€8.9M/year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79557" y="3912037"/>
            <a:ext cx="2980134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~7yr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337566" y="486489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Simple Payback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079557" y="5382339"/>
            <a:ext cx="2980134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Equity payback ~12 years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78328" y="1996797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Breakdown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578328" y="2514243"/>
            <a:ext cx="622196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Based on 46,200 T/year throughput (330 operating days, 140 T/day actual weight at 0.7 T/m³ MSW bulk density).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78328" y="3372803"/>
            <a:ext cx="6221968" cy="1968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Gate fees: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33% of revenue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Fuel oil sales: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39% of revenue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Char/biochar: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9% of revenue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Recovered metals: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4% of revenue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Carbon credits: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15% of revenue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78328" y="5576530"/>
            <a:ext cx="6221968" cy="1559957"/>
          </a:xfrm>
          <a:prstGeom prst="roundRect">
            <a:avLst>
              <a:gd name="adj" fmla="val 2014"/>
            </a:avLst>
          </a:prstGeom>
          <a:solidFill>
            <a:srgbClr val="441709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7759" y="5875853"/>
            <a:ext cx="261818" cy="20943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59008" y="5838230"/>
            <a:ext cx="5331857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Inputs — feedstock, tipping fees, oil price (€480–895/T), geography, and scale — are fully adjustable in the configurable financial model.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75604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Why Now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37724" y="3010376"/>
            <a:ext cx="4178618" cy="3243501"/>
          </a:xfrm>
          <a:prstGeom prst="roundRect">
            <a:avLst>
              <a:gd name="adj" fmla="val 3383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864" y="3010376"/>
            <a:ext cx="91440" cy="3243501"/>
          </a:xfrm>
          <a:prstGeom prst="roundRect">
            <a:avLst>
              <a:gd name="adj" fmla="val 34360"/>
            </a:avLst>
          </a:prstGeom>
          <a:solidFill>
            <a:srgbClr val="EF9C82"/>
          </a:solidFill>
          <a:ln/>
        </p:spPr>
      </p:sp>
      <p:sp>
        <p:nvSpPr>
          <p:cNvPr id="5" name="Text 3"/>
          <p:cNvSpPr/>
          <p:nvPr/>
        </p:nvSpPr>
        <p:spPr>
          <a:xfrm>
            <a:off x="1138595" y="3242667"/>
            <a:ext cx="350770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EU Circular Economy Mandates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8595" y="3676293"/>
            <a:ext cx="3645456" cy="234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EU regulations mandate 65% recycling and a maximum 10% landfilling rate by 2035—targets currently unmet by member states. France currently incinerates 38% and landfills 18% of MSW, creating a significant regulatory gap.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25772" y="3010376"/>
            <a:ext cx="4178737" cy="3243501"/>
          </a:xfrm>
          <a:prstGeom prst="roundRect">
            <a:avLst>
              <a:gd name="adj" fmla="val 3383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02912" y="3010376"/>
            <a:ext cx="91440" cy="3243501"/>
          </a:xfrm>
          <a:prstGeom prst="roundRect">
            <a:avLst>
              <a:gd name="adj" fmla="val 34360"/>
            </a:avLst>
          </a:prstGeom>
          <a:solidFill>
            <a:srgbClr val="EF9C82"/>
          </a:solidFill>
          <a:ln/>
        </p:spPr>
      </p:sp>
      <p:sp>
        <p:nvSpPr>
          <p:cNvPr id="9" name="Text 7"/>
          <p:cNvSpPr/>
          <p:nvPr/>
        </p:nvSpPr>
        <p:spPr>
          <a:xfrm>
            <a:off x="5526643" y="3242667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Strong Oil Market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526643" y="3676293"/>
            <a:ext cx="3645575" cy="2010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ICIS plastic pyrolysis oil reached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€670/T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in 2024–25. Market demand is supported by expanding ISCC-certified premiums as circular economy compliance requirements continue to tighten.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13940" y="3010376"/>
            <a:ext cx="4178737" cy="3243501"/>
          </a:xfrm>
          <a:prstGeom prst="roundRect">
            <a:avLst>
              <a:gd name="adj" fmla="val 3383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1080" y="3010376"/>
            <a:ext cx="91440" cy="3243501"/>
          </a:xfrm>
          <a:prstGeom prst="roundRect">
            <a:avLst>
              <a:gd name="adj" fmla="val 34360"/>
            </a:avLst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9914811" y="3242667"/>
            <a:ext cx="249078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Ready for Deployment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914811" y="3676293"/>
            <a:ext cx="3645575" cy="234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Urban Rig technology is commercially mature, fully manufactured, and validated. The system is verified and field-proven at an industrial scale, minimizing technical risk for immediate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735" y="508516"/>
            <a:ext cx="4351734" cy="54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Investment Process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35" y="1378982"/>
            <a:ext cx="13150929" cy="5680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77884" y="5239142"/>
            <a:ext cx="1952678" cy="66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Joint Scenario Dev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877884" y="6009307"/>
            <a:ext cx="1952678" cy="53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Co-create options (4–8 weeks)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891860" y="5239142"/>
            <a:ext cx="1952679" cy="66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Commercial Structuring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891860" y="6009307"/>
            <a:ext cx="1952679" cy="53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Negotiate terms and close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377119" y="1891552"/>
            <a:ext cx="1952678" cy="33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Discovery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377119" y="2327214"/>
            <a:ext cx="1952678" cy="53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Align objectives (2–4 weeks)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318137" y="1891552"/>
            <a:ext cx="1952678" cy="66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Manufacture &amp; Commission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1318137" y="2661717"/>
            <a:ext cx="1952678" cy="53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Build to operations (12–18 months)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415991" y="1891552"/>
            <a:ext cx="1952678" cy="66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Independent Validation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415991" y="2661717"/>
            <a:ext cx="1952678" cy="53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Technical review (2–4 months)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39735" y="7243167"/>
            <a:ext cx="13150929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investment process is structured in five stages, each designed to build technical and commercial confidence progressively — from initial assessment through to operational launch.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7724" y="1687592"/>
            <a:ext cx="1086922" cy="393502"/>
          </a:xfrm>
          <a:prstGeom prst="roundRect">
            <a:avLst>
              <a:gd name="adj" fmla="val 6388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963335" y="1750338"/>
            <a:ext cx="835700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37724" y="2164794"/>
            <a:ext cx="7468553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Problem: A Global Waste Crisis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837724" y="3815358"/>
            <a:ext cx="2314932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2.01B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37724" y="4768215"/>
            <a:ext cx="231493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Tonnes MSW (2016)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7724" y="5201841"/>
            <a:ext cx="2314932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Projected to reach 3.4 billion tonnes by 2050. </a:t>
            </a:r>
            <a:pPr algn="ctr"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Source: World Bank "What a Waste 2.0"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14474" y="3815358"/>
            <a:ext cx="2314932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225M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3414474" y="4768215"/>
            <a:ext cx="231493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Tonnes in Europe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414474" y="5201841"/>
            <a:ext cx="2314932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513 kg per capita annually. Only 49.6% recycled or composted. </a:t>
            </a:r>
            <a:pPr algn="ctr"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Source: Eurostat 2023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91225" y="3815358"/>
            <a:ext cx="2314932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22.9%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5991225" y="4768215"/>
            <a:ext cx="231493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Still Landfilled (EU)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991225" y="5201841"/>
            <a:ext cx="231493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27.5% incinerated; the remainder recycled or composted.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88519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French Context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86872" y="2418517"/>
            <a:ext cx="5850374" cy="4322564"/>
          </a:xfrm>
          <a:prstGeom prst="roundRect">
            <a:avLst>
              <a:gd name="adj" fmla="val 727"/>
            </a:avLst>
          </a:prstGeom>
          <a:solidFill>
            <a:srgbClr val="2150FE"/>
          </a:solidFill>
          <a:ln/>
        </p:spPr>
      </p:sp>
      <p:sp>
        <p:nvSpPr>
          <p:cNvPr id="4" name="Text 2"/>
          <p:cNvSpPr/>
          <p:nvPr/>
        </p:nvSpPr>
        <p:spPr>
          <a:xfrm>
            <a:off x="896302" y="262794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National Picture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96302" y="3145393"/>
            <a:ext cx="5431512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France generates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38.5 million tonnes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of MSW annually (580 kg per capita — above the EU-27 average of 505 kg). Treatment relies heavily on incineration (38.1%) and landfilling (18.1%), with recycling at only 26.9%. </a:t>
            </a:r>
            <a:pPr algn="l"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Source: ADEME 2022.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302" y="5030033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Île-de-France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302" y="5547479"/>
            <a:ext cx="543151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region alone produces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6.2 million tonnes/year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(17,000 T/day), with 37% going to incineration and 18% to landfill. </a:t>
            </a:r>
            <a:pPr algn="l"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Source: ORDIF.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05030" y="262794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Regulatory Gap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905030" y="3145393"/>
            <a:ext cx="6895267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EU Circular Economy Package mandates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65% recycling by 2035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and a maximum of 10% landfilling — targets France is far from meeting. This creates urgent demand for technologies that can process mixed residual waste into valuable resources.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5030" y="4694992"/>
            <a:ext cx="287035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Limits of Incineration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905030" y="5212437"/>
            <a:ext cx="6895267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Conventional incineration generates dioxins, CO₂, and toxic bottom ash (machefer) requiring controlled landfilling. Material recovery is only 5–10%. Safe incineration plants are prohibitively expensive, making waste management a pure cost centre. </a:t>
            </a:r>
            <a:pPr algn="l"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Source: Annex 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2067" y="778907"/>
            <a:ext cx="5087422" cy="401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Limits of Mechanical Recycling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2252067" y="1357789"/>
            <a:ext cx="10126147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Mechanical recycling cannot address the majority of plastic waste in French MSW.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76% of plastics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are either not recycled or have very low recyclability.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916680" y="2524601"/>
            <a:ext cx="1678067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90%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2490" y="1671876"/>
            <a:ext cx="2046565" cy="20465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33944" y="3841313"/>
            <a:ext cx="1643777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PP Non-Recycling Rate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252067" y="4095155"/>
            <a:ext cx="5007531" cy="360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Polypropylene — one of the most common plastics — is almost entirely unrecycled.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035296" y="2524601"/>
            <a:ext cx="1678067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95%</a:t>
            </a:r>
            <a:endParaRPr lang="en-US" sz="2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106" y="1671876"/>
            <a:ext cx="2046565" cy="20465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50179" y="3841313"/>
            <a:ext cx="1648539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PS Non-Recycling Rate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370683" y="4095155"/>
            <a:ext cx="5007531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Polystyrene faces near-total non-recycling in France.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916680" y="5519857"/>
            <a:ext cx="1678067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100%</a:t>
            </a:r>
            <a:endParaRPr lang="en-US" sz="26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490" y="4667131"/>
            <a:ext cx="2046565" cy="2046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05357" y="6836569"/>
            <a:ext cx="1900833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Composite Non-Recycling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252067" y="7090410"/>
            <a:ext cx="5007531" cy="360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Composite and multi-layer plastics are entirely unrecycled by conventional means.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9035296" y="5519857"/>
            <a:ext cx="1678067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34%</a:t>
            </a:r>
            <a:endParaRPr lang="en-US" sz="26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106" y="4667131"/>
            <a:ext cx="2046565" cy="20465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71848" y="6836569"/>
            <a:ext cx="1605082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PET to Landfill/Incin.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370683" y="7090410"/>
            <a:ext cx="5007531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Even PET — the most recycled plastic — sees 34% go to incineration or landfill.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568887"/>
            <a:ext cx="1117402" cy="393502"/>
          </a:xfrm>
          <a:prstGeom prst="roundRect">
            <a:avLst>
              <a:gd name="adj" fmla="val 6388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963335" y="1631633"/>
            <a:ext cx="866180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37724" y="2046089"/>
            <a:ext cx="793313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Solution: Urban Rig Technology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837724" y="2976086"/>
            <a:ext cx="1295495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Urban Rig is a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patented superheated-steam pyrolysis and carbonisation system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that transforms waste management from cost centre to profit centre. Operating in a completely anoxic (oxygen-free) reactor, it converts mixed, unsorted waste directly into four marketable oil fractions, industrial-grade charcoal, and recoverable metals and glass.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724" y="4216837"/>
            <a:ext cx="523637" cy="5236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3179" y="4216837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Sorting Required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23179" y="4650462"/>
            <a:ext cx="3358277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Mixed waste — including mud, metals, pesticides, and food residue — loaded directly. One day of storage to reduce surface moisture is the only preparation.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3274" y="4216837"/>
            <a:ext cx="523637" cy="5236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28730" y="4216837"/>
            <a:ext cx="256079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Handles Any Condition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028730" y="4650462"/>
            <a:ext cx="3358277" cy="2010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Processes muddy, wet, and contaminated feedstock including sludge, food waste, and agricultural residues — a challenge conventional pyrolysis cannot handle.</a:t>
            </a:r>
            <a:endParaRPr lang="en-US" sz="1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8825" y="4216837"/>
            <a:ext cx="523637" cy="5236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34280" y="4216837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PVC &amp; All Halogens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0434280" y="4650462"/>
            <a:ext cx="3358396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Catalytic layer adsorbs chlorine; steam neutralises HCl. Extends to all brominated and fluorinated plastics — waste streams no other technology can safely handle.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311" y="1141452"/>
            <a:ext cx="6048732" cy="568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Four Marketable Oil Fractions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73311" y="2066925"/>
            <a:ext cx="13083778" cy="594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7-zone continuous process separates recovered oil into four distinct fractions by temperature-controlled condensation. At 90% resin content, total liquefied oil recovery reaches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76.5% of input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 NKKK-certified calorific value: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43.27 MJ/kg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comparable to fossil diesel at 42.6 MJ/kg.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3311" y="2862501"/>
            <a:ext cx="13083778" cy="2946321"/>
          </a:xfrm>
          <a:prstGeom prst="roundRect">
            <a:avLst>
              <a:gd name="adj" fmla="val 98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0931" y="2870121"/>
            <a:ext cx="13068538" cy="5267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74408" y="2984778"/>
            <a:ext cx="156995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38463" y="2984778"/>
            <a:ext cx="1174075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Temp.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06635" y="2984778"/>
            <a:ext cx="1174075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Yield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74807" y="2984778"/>
            <a:ext cx="287297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Oil Type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41882" y="2984778"/>
            <a:ext cx="4314349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Uses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0931" y="3396853"/>
            <a:ext cx="13068538" cy="5267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74408" y="3511510"/>
            <a:ext cx="156995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Zone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38463" y="3511510"/>
            <a:ext cx="1174075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150°C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06635" y="3511510"/>
            <a:ext cx="1174075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~10%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74807" y="3511510"/>
            <a:ext cx="287297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Light Naphtha (C5–C8)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41882" y="3511510"/>
            <a:ext cx="4314349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Petrochemical feedstock; industrial solvent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0931" y="3923586"/>
            <a:ext cx="13068538" cy="82415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74408" y="4038243"/>
            <a:ext cx="156995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Zone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38463" y="4038243"/>
            <a:ext cx="1174075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300°C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06635" y="4038243"/>
            <a:ext cx="1174075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~80%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74807" y="4038243"/>
            <a:ext cx="287297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Gas/Diesel Oil (C8–C20)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41882" y="4038243"/>
            <a:ext cx="4314349" cy="594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Recycled diesel; SAF co-processing; industrial boiler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0931" y="4747736"/>
            <a:ext cx="13068538" cy="5267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74408" y="4862393"/>
            <a:ext cx="156995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Zone 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938463" y="4862393"/>
            <a:ext cx="1174075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450°C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06635" y="4862393"/>
            <a:ext cx="1174075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~10%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074807" y="4862393"/>
            <a:ext cx="287297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Heavy Oil (C20+)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41882" y="4862393"/>
            <a:ext cx="4314349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Industrial heavy fuel; bitumen/asphalt feedstock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80931" y="5274469"/>
            <a:ext cx="13068538" cy="5267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74408" y="5389126"/>
            <a:ext cx="156995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Zone 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938463" y="5389126"/>
            <a:ext cx="1174075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600°C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06635" y="5389126"/>
            <a:ext cx="1174075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Traces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74807" y="5389126"/>
            <a:ext cx="287297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Asphaltenes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341882" y="5389126"/>
            <a:ext cx="4314349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Solid fuel (carbide); soil amendment (biochar)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3311" y="6009561"/>
            <a:ext cx="13083778" cy="1078587"/>
          </a:xfrm>
          <a:prstGeom prst="roundRect">
            <a:avLst>
              <a:gd name="adj" fmla="val 2689"/>
            </a:avLst>
          </a:prstGeom>
          <a:solidFill>
            <a:srgbClr val="441709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549" y="6287572"/>
            <a:ext cx="241578" cy="19323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401366" y="6236137"/>
            <a:ext cx="12262485" cy="594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Only non-condensable gas is recycled to fuel the machine after startup. All condensed oil fractions (Zones 1–4) are collected for commercial use or resale.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86940"/>
            <a:ext cx="10012323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Patented Technology &amp; Precision Automation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3326368"/>
            <a:ext cx="378833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Patented Thermal Transfer System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37724" y="3843814"/>
            <a:ext cx="6221968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Urban Rig's patented system delivers superior conductivity and heat transfer via ultra-fine particle technology — achieving combined spread, convective, and condensation heat transfer that exceeds conventional pyrolysis. The result: finer temperature control and measurably better yields across all feedstock types.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27476" y="3116937"/>
            <a:ext cx="6523673" cy="2925604"/>
          </a:xfrm>
          <a:prstGeom prst="roundRect">
            <a:avLst>
              <a:gd name="adj" fmla="val 1074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7636907" y="3326368"/>
            <a:ext cx="420552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Minimal Staffing Through Automation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36907" y="3843814"/>
            <a:ext cx="6104811" cy="2010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entire 7-process cycle — drying, heating, carbonisation, oil extraction, and three-stage cooling — is automatically operated by microcomputer control. Three buckets move as one batch through seven zones every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90 minutes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, enabling 24-hour continuous throughput of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48 batches/day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 A 200 T/day plant operates with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~15 staff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924" y="1069777"/>
            <a:ext cx="5337929" cy="522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Environmental Performance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25924" y="1968222"/>
            <a:ext cx="2739509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Zero Dioxin &amp; CO₂ Emissions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5924" y="2379821"/>
            <a:ext cx="6372582" cy="1049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Because the reactor operates in a completely anoxic state, dioxins and CO₂ are simply </a:t>
            </a:r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not generated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unlike incineration where oxygen reacts with carbon and chlorine. This is a fundamental process advantage, not a filtration afterthought.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25924" y="3579495"/>
            <a:ext cx="3598069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Emissions Far Below Regulatory Limits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5924" y="3991094"/>
            <a:ext cx="6372582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Independent exhaust analysis by KANSO Technos confirms Urban Rig emissions are </a:t>
            </a:r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 to 50 times lower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than French incineration standards: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5924" y="4684990"/>
            <a:ext cx="6372582" cy="2305407"/>
          </a:xfrm>
          <a:prstGeom prst="roundRect">
            <a:avLst>
              <a:gd name="adj" fmla="val 115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3544" y="4692610"/>
            <a:ext cx="6357342" cy="4580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1185" y="4790480"/>
            <a:ext cx="1866186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Pollutant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40035" y="4790480"/>
            <a:ext cx="1544479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Measured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47178" y="4790480"/>
            <a:ext cx="1866186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Factor Below Limit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3544" y="5150644"/>
            <a:ext cx="6357342" cy="4580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1185" y="5248513"/>
            <a:ext cx="1866186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HCl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40035" y="5248513"/>
            <a:ext cx="1544479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&lt;1 ppm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47178" y="5248513"/>
            <a:ext cx="1866186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&gt;10×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3544" y="5608677"/>
            <a:ext cx="6357342" cy="4580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11185" y="5706547"/>
            <a:ext cx="1866186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SOₓ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40035" y="5706547"/>
            <a:ext cx="1544479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&lt;1 ppm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47178" y="5706547"/>
            <a:ext cx="1866186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&gt;50×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3544" y="6066711"/>
            <a:ext cx="6357342" cy="4580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11185" y="6164580"/>
            <a:ext cx="1866186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NOₓ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40035" y="6164580"/>
            <a:ext cx="1544479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15 ppm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47178" y="6164580"/>
            <a:ext cx="1866186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&gt;13×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33544" y="6524744"/>
            <a:ext cx="6357342" cy="4580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11185" y="6622613"/>
            <a:ext cx="1866186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Particulates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140035" y="6622613"/>
            <a:ext cx="1544479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&lt;0.002 g/m³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47178" y="6622613"/>
            <a:ext cx="1866186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&gt;5×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539276" y="1968222"/>
            <a:ext cx="3175159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Optional PRIMO Exhaust Upgrade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39276" y="2379821"/>
            <a:ext cx="6372582" cy="1049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PRIMO (PUREM 30.8) module performs DeNOx, DeSOx, dust removal, and odour removal — using the same technology standard at thermal power plants worldwide — enabling near-zero atmospheric impact in sensitive urban or airport environments.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539276" y="3579495"/>
            <a:ext cx="3987165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Integrated Water Purification (SEA CORAL)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39276" y="3991094"/>
            <a:ext cx="6372582" cy="786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URC-2000 includes an integrated SEA CORAL ceramic purification system, enabling closed-loop water management and eliminating wastewater discharge.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539276" y="4928473"/>
            <a:ext cx="2928938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Low Noise &amp; No Explosion Risk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39276" y="5340072"/>
            <a:ext cx="6372582" cy="786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Thermal decomposition occurs entirely inside enclosed equipment. Operating noise is comparable to a cooling tower. With no oxygen in the reactor, there is </a:t>
            </a:r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risk of explosion or ignition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at any point in the process.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1345" y="1285637"/>
            <a:ext cx="369200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All Outputs Are Marketable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6001345" y="1782961"/>
            <a:ext cx="8114109" cy="332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output from the Urban Rig process is a saleable resource — in sharp contrast to conventional incineration, which produces toxic bottom ash (machefer) and fly ash requiring expensive hazardous landfilling.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01345" y="2204323"/>
            <a:ext cx="8114109" cy="1125617"/>
          </a:xfrm>
          <a:prstGeom prst="roundRect">
            <a:avLst>
              <a:gd name="adj" fmla="val 1716"/>
            </a:avLst>
          </a:prstGeom>
          <a:solidFill>
            <a:srgbClr val="315251"/>
          </a:solidFill>
          <a:ln/>
        </p:spPr>
      </p:sp>
      <p:sp>
        <p:nvSpPr>
          <p:cNvPr id="6" name="Shape 3"/>
          <p:cNvSpPr/>
          <p:nvPr/>
        </p:nvSpPr>
        <p:spPr>
          <a:xfrm>
            <a:off x="6130052" y="2333030"/>
            <a:ext cx="386239" cy="386239"/>
          </a:xfrm>
          <a:prstGeom prst="roundRect">
            <a:avLst>
              <a:gd name="adj" fmla="val 23672093"/>
            </a:avLst>
          </a:prstGeom>
          <a:solidFill>
            <a:srgbClr val="EF9C8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6256" y="2439233"/>
            <a:ext cx="173712" cy="1737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30052" y="2798326"/>
            <a:ext cx="15147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Fuel Oil (4 Fractions)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130052" y="3035022"/>
            <a:ext cx="7856696" cy="166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NKKK-certified; 43.27 MJ/kg calorific value. Qualifies for ISCC sustainability premium.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001345" y="3408998"/>
            <a:ext cx="8114109" cy="1125617"/>
          </a:xfrm>
          <a:prstGeom prst="roundRect">
            <a:avLst>
              <a:gd name="adj" fmla="val 1716"/>
            </a:avLst>
          </a:prstGeom>
          <a:solidFill>
            <a:srgbClr val="315251"/>
          </a:solidFill>
          <a:ln/>
        </p:spPr>
      </p:sp>
      <p:sp>
        <p:nvSpPr>
          <p:cNvPr id="11" name="Shape 7"/>
          <p:cNvSpPr/>
          <p:nvPr/>
        </p:nvSpPr>
        <p:spPr>
          <a:xfrm>
            <a:off x="6130052" y="3537704"/>
            <a:ext cx="386239" cy="386239"/>
          </a:xfrm>
          <a:prstGeom prst="roundRect">
            <a:avLst>
              <a:gd name="adj" fmla="val 23672093"/>
            </a:avLst>
          </a:prstGeom>
          <a:solidFill>
            <a:srgbClr val="EF9C8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6256" y="3643908"/>
            <a:ext cx="173712" cy="1737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30052" y="4003000"/>
            <a:ext cx="19498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Industrial Charcoal (Carbide)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130052" y="4239697"/>
            <a:ext cx="7856696" cy="166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~25 MJ/kg calorific value — comparable to coal (23–30 MJ/kg). Sold as solid fuel or certified agricultural biochar.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001345" y="4613672"/>
            <a:ext cx="8114109" cy="1125617"/>
          </a:xfrm>
          <a:prstGeom prst="roundRect">
            <a:avLst>
              <a:gd name="adj" fmla="val 1716"/>
            </a:avLst>
          </a:prstGeom>
          <a:solidFill>
            <a:srgbClr val="315251"/>
          </a:solidFill>
          <a:ln/>
        </p:spPr>
      </p:sp>
      <p:sp>
        <p:nvSpPr>
          <p:cNvPr id="16" name="Shape 11"/>
          <p:cNvSpPr/>
          <p:nvPr/>
        </p:nvSpPr>
        <p:spPr>
          <a:xfrm>
            <a:off x="6130052" y="4742378"/>
            <a:ext cx="386239" cy="386239"/>
          </a:xfrm>
          <a:prstGeom prst="roundRect">
            <a:avLst>
              <a:gd name="adj" fmla="val 23672093"/>
            </a:avLst>
          </a:prstGeom>
          <a:solidFill>
            <a:srgbClr val="EF9C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6256" y="4848582"/>
            <a:ext cx="173712" cy="1737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30052" y="5207675"/>
            <a:ext cx="174890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Recovered Metals &amp; Glass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130052" y="5444371"/>
            <a:ext cx="7856696" cy="166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Extracted in non-oxidised condition, yielding high-purity copper and other materials for direct recycling.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001345" y="5818346"/>
            <a:ext cx="8114109" cy="1125617"/>
          </a:xfrm>
          <a:prstGeom prst="roundRect">
            <a:avLst>
              <a:gd name="adj" fmla="val 1716"/>
            </a:avLst>
          </a:prstGeom>
          <a:solidFill>
            <a:srgbClr val="315251"/>
          </a:solidFill>
          <a:ln/>
        </p:spPr>
      </p:sp>
      <p:sp>
        <p:nvSpPr>
          <p:cNvPr id="21" name="Shape 15"/>
          <p:cNvSpPr/>
          <p:nvPr/>
        </p:nvSpPr>
        <p:spPr>
          <a:xfrm>
            <a:off x="6130052" y="5947053"/>
            <a:ext cx="386239" cy="386239"/>
          </a:xfrm>
          <a:prstGeom prst="roundRect">
            <a:avLst>
              <a:gd name="adj" fmla="val 23672093"/>
            </a:avLst>
          </a:prstGeom>
          <a:solidFill>
            <a:srgbClr val="EF9C8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36256" y="6053257"/>
            <a:ext cx="173712" cy="1737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30052" y="6412349"/>
            <a:ext cx="184463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Massive Volume Reduction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130052" y="6649045"/>
            <a:ext cx="7856696" cy="166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Carbonisation reduces input to ~25% of original volume. Unlike incineration residue, the vast majority is reusable.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870347"/>
            <a:ext cx="1118711" cy="393502"/>
          </a:xfrm>
          <a:prstGeom prst="roundRect">
            <a:avLst>
              <a:gd name="adj" fmla="val 6388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963335" y="933093"/>
            <a:ext cx="867489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CHAPTER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37724" y="1347549"/>
            <a:ext cx="1012507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Versatility: Processing Hard-to-Recycle Waste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837724" y="2277547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Urban Rig's anoxic superheated steam process is feedstock-agnostic — safely and profitably treating waste streams considered difficult or impossible to recycle through conventional means.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183255"/>
            <a:ext cx="1338501" cy="8272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7724" y="4272320"/>
            <a:ext cx="3042285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Municipal &amp; Household Waste (MSW)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7724" y="5013960"/>
            <a:ext cx="3042285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20–66% oil yield. Gate fees: €80–180/T. Baseload feedstock for continuous operations. Unsorted, mixed, no pre-sorting required.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827" y="3183255"/>
            <a:ext cx="1338620" cy="8272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41827" y="4272320"/>
            <a:ext cx="3042404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Industrial Plastics &amp; Manufacturing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141827" y="5013960"/>
            <a:ext cx="3042404" cy="2010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70–82% oil yield from pure polymers. Automotive shredder residue (ASR): 35–50% yield. Multi-layer and composite packaging: 40–60% yield. Highest oil recovery per tonne.</a:t>
            </a:r>
            <a:endParaRPr lang="en-US" sz="1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050" y="3183255"/>
            <a:ext cx="1338620" cy="82724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46050" y="4272320"/>
            <a:ext cx="246518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Tyres &amp; Rubber Waste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7446050" y="4705945"/>
            <a:ext cx="3042404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40–50% oil yield. ~1 billion waste tyres generated globally each year. Recovers oil, carbon black, and steel — three saleable outputs per tonne.</a:t>
            </a:r>
            <a:endParaRPr lang="en-US" sz="1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272" y="3183255"/>
            <a:ext cx="1338620" cy="8272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50272" y="4272320"/>
            <a:ext cx="3042404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Medical, ICAO &amp; Sanitary Waste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10750272" y="5013960"/>
            <a:ext cx="3042404" cy="234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30–50% oil yield. Gate fees: €800–1,500/T for medical/DASRI. Aircraft cabin waste (ICAO/EU Reg 1069/2009): €120–200/T. Complete thermal sanitisation in anoxic environment.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72922"/>
            <a:ext cx="741247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Further Hard-to-Recycle Streams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612350"/>
            <a:ext cx="385452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Sanitation-Regulated Waste (ICAO)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37724" y="3129796"/>
            <a:ext cx="6221968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Aircraft cabin waste from international flights must be sanitised or incinerated under ICAO and EU Regulation 1069/2009. Urban Rig meets sanitation requirements while simultaneously recovering valuable oil and charcoal — replacing high-cost incineration with zero resource recovery.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7724" y="5014436"/>
            <a:ext cx="323695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Agricultural &amp; Organic Waste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37724" y="5531882"/>
            <a:ext cx="6221968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Livestock waste — yielding animal-derived oil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Agricultural film and silage wrap (contaminated LDPE)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Pesticide-contaminated containers and packaging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27476" y="2402919"/>
            <a:ext cx="6523673" cy="4353758"/>
          </a:xfrm>
          <a:prstGeom prst="roundRect">
            <a:avLst>
              <a:gd name="adj" fmla="val 722"/>
            </a:avLst>
          </a:prstGeom>
          <a:solidFill>
            <a:srgbClr val="2150FE"/>
          </a:solidFill>
          <a:ln/>
        </p:spPr>
      </p:sp>
      <p:sp>
        <p:nvSpPr>
          <p:cNvPr id="8" name="Text 6"/>
          <p:cNvSpPr/>
          <p:nvPr/>
        </p:nvSpPr>
        <p:spPr>
          <a:xfrm>
            <a:off x="7636907" y="2612350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Other Streams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36907" y="3129796"/>
            <a:ext cx="6104811" cy="3119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Wire cord waste — with non-oxidised copper recovery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Deposition film waste (aluminium/PE composites)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Textile waste, synthetic leather, and carpet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Electronic waste plastics (brominated WEEE casings)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Mattresses and furniture foam (polyurethane)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Nappies and absorbent hygiene products (~4% of household waste)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Marine and fishing waste — nets, ropes, ocean plastics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6162" y="1328142"/>
            <a:ext cx="8839319" cy="533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FORCE 9 Companion Technology &amp; Scalability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26162" y="2255401"/>
            <a:ext cx="3476506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FORCE 9 Far-Infrared Detoxification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26162" y="2679621"/>
            <a:ext cx="5005388" cy="1355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 specialised applications, the FORCE 9 catalytic reduction facility detoxifies incinerated ash and carbide containing heavy metals at ~400°C. Treated waste becomes usable as fertilisers, soil conditioners, and construction materials. Can even treat radioactively contaminated soil.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82082" y="2255401"/>
            <a:ext cx="3259455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Full Product Line — 1 to 200 T/day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182082" y="2699266"/>
            <a:ext cx="7729657" cy="3341489"/>
          </a:xfrm>
          <a:prstGeom prst="roundRect">
            <a:avLst>
              <a:gd name="adj" fmla="val 81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9702" y="2706886"/>
            <a:ext cx="7714417" cy="4751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71392" y="2808923"/>
            <a:ext cx="117609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18013" y="2808923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Capacity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60825" y="2808923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Type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003637" y="2808923"/>
            <a:ext cx="2719030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9702" y="3182064"/>
            <a:ext cx="7714417" cy="4751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71392" y="3284101"/>
            <a:ext cx="117609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URB-10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18013" y="3284101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 T/day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60825" y="3284101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Batch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003637" y="3284101"/>
            <a:ext cx="2719030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Fits 40-ft container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89702" y="3657243"/>
            <a:ext cx="7714417" cy="4751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71392" y="3759279"/>
            <a:ext cx="117609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URT-10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18013" y="3759279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 T/day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60825" y="3759279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Mobile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03637" y="3759279"/>
            <a:ext cx="2719030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10-tonne truck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89702" y="4132421"/>
            <a:ext cx="7714417" cy="4751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71392" y="4234458"/>
            <a:ext cx="117609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URB-50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18013" y="4234458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 T/day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60825" y="4234458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Batch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003637" y="4234458"/>
            <a:ext cx="2719030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Small industrial site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89702" y="4607600"/>
            <a:ext cx="7714417" cy="4751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71392" y="4709636"/>
            <a:ext cx="117609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URC-400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18013" y="4709636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40 T/day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60825" y="4709636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Continuous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003637" y="4709636"/>
            <a:ext cx="2719030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2,700 m² building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89702" y="5082778"/>
            <a:ext cx="7714417" cy="4751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371392" y="5184815"/>
            <a:ext cx="117609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URC-1000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18013" y="5184815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100 T/day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60825" y="5184815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Continuous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003637" y="5184815"/>
            <a:ext cx="2719030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Mid-scale municipal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89702" y="5557957"/>
            <a:ext cx="7714417" cy="4751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71392" y="5659993"/>
            <a:ext cx="117609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URC-2000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918013" y="5659993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200 T/day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460825" y="5659993"/>
            <a:ext cx="1172289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Continuous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003637" y="5659993"/>
            <a:ext cx="2719030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4,650 m² building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182082" y="6217682"/>
            <a:ext cx="7729657" cy="542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Multiple URC-2000 plants can be combined — 5× URC-2000 yields 1,000 T/day on a 28,900 m² site. Manufacturing lead time: ~10 months (continuous), ~6 months (batch).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0104" y="582692"/>
            <a:ext cx="1101685" cy="388620"/>
          </a:xfrm>
          <a:prstGeom prst="roundRect">
            <a:avLst>
              <a:gd name="adj" fmla="val 6408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954524" y="644843"/>
            <a:ext cx="852845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CHAPTER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30104" y="1053465"/>
            <a:ext cx="5339834" cy="610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Market Opportunity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30104" y="2075855"/>
            <a:ext cx="2323267" cy="684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50"/>
              </a:lnSpc>
              <a:buNone/>
            </a:pPr>
            <a:r>
              <a:rPr lang="en-US" sz="5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2.01B</a:t>
            </a:r>
            <a:endParaRPr lang="en-US" sz="5350" dirty="0"/>
          </a:p>
        </p:txBody>
      </p:sp>
      <p:sp>
        <p:nvSpPr>
          <p:cNvPr id="7" name="Text 4"/>
          <p:cNvSpPr/>
          <p:nvPr/>
        </p:nvSpPr>
        <p:spPr>
          <a:xfrm>
            <a:off x="830104" y="3018592"/>
            <a:ext cx="2323267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Tonnes Global MSW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0104" y="3447098"/>
            <a:ext cx="2323267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Projected to reach 3.4B tonnes by 2050.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10307" y="2075855"/>
            <a:ext cx="2323267" cy="684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50"/>
              </a:lnSpc>
              <a:buNone/>
            </a:pPr>
            <a:r>
              <a:rPr lang="en-US" sz="5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225M</a:t>
            </a:r>
            <a:endParaRPr lang="en-US" sz="5350" dirty="0"/>
          </a:p>
        </p:txBody>
      </p:sp>
      <p:sp>
        <p:nvSpPr>
          <p:cNvPr id="10" name="Text 7"/>
          <p:cNvSpPr/>
          <p:nvPr/>
        </p:nvSpPr>
        <p:spPr>
          <a:xfrm>
            <a:off x="3410307" y="3018592"/>
            <a:ext cx="2323267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Tonnes in Europe/yr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410307" y="3447098"/>
            <a:ext cx="2323267" cy="132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EU mandates 65% recycling by 2035 — no member state currently meets this.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90511" y="2075855"/>
            <a:ext cx="2323386" cy="684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50"/>
              </a:lnSpc>
              <a:buNone/>
            </a:pPr>
            <a:r>
              <a:rPr lang="en-US" sz="5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21.6M</a:t>
            </a:r>
            <a:endParaRPr lang="en-US" sz="5350" dirty="0"/>
          </a:p>
        </p:txBody>
      </p:sp>
      <p:sp>
        <p:nvSpPr>
          <p:cNvPr id="13" name="Text 10"/>
          <p:cNvSpPr/>
          <p:nvPr/>
        </p:nvSpPr>
        <p:spPr>
          <a:xfrm>
            <a:off x="5990511" y="3018592"/>
            <a:ext cx="2323386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Tonnes Redirectable (France)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990511" y="3752255"/>
            <a:ext cx="2323386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Currently incinerated or landfilled — addressable by Urban Rig.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10307" y="5284113"/>
            <a:ext cx="2323267" cy="684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50"/>
              </a:lnSpc>
              <a:buNone/>
            </a:pPr>
            <a:r>
              <a:rPr lang="en-US" sz="5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€670</a:t>
            </a:r>
            <a:endParaRPr lang="en-US" sz="5350" dirty="0"/>
          </a:p>
        </p:txBody>
      </p:sp>
      <p:sp>
        <p:nvSpPr>
          <p:cNvPr id="16" name="Text 13"/>
          <p:cNvSpPr/>
          <p:nvPr/>
        </p:nvSpPr>
        <p:spPr>
          <a:xfrm>
            <a:off x="3410307" y="6226850"/>
            <a:ext cx="2323267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Pyrolysis Oil Price/T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3410307" y="6655356"/>
            <a:ext cx="2323267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ICIS index 2024–25, with growing ISCC-certified premiums.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2609" y="1224796"/>
            <a:ext cx="7878128" cy="51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Addressable Feedstock Segments — France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72609" y="2023110"/>
            <a:ext cx="12885063" cy="50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Urban Rig's anoxic steam cracking process is feedstock-agnostic. The optimal strategy is a 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blended portfolio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MSW or airport waste as baseload, supplemented by high-margin batches of industrial plastics, tyres, and medical waste.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72609" y="2692837"/>
            <a:ext cx="12885063" cy="4311848"/>
          </a:xfrm>
          <a:prstGeom prst="roundRect">
            <a:avLst>
              <a:gd name="adj" fmla="val 60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0229" y="2700457"/>
            <a:ext cx="12869823" cy="4418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54060" y="2794397"/>
            <a:ext cx="2866430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Feedstock Segment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75296" y="2794397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France Volume/yr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91776" y="2794397"/>
            <a:ext cx="118955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Oil Yield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36136" y="2794397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Gate Fee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452616" y="2794397"/>
            <a:ext cx="312384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Supply Concentration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80229" y="3142298"/>
            <a:ext cx="12869823" cy="6958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54060" y="3236238"/>
            <a:ext cx="2866430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Industrial Pure Plastics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75296" y="3236238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~2.2 MT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91776" y="3236238"/>
            <a:ext cx="118955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70–82%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36136" y="3236238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€60–120/T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452616" y="3236238"/>
            <a:ext cx="3123843" cy="50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Excellent — industrial parks; contractable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80229" y="3838099"/>
            <a:ext cx="12869823" cy="4418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54060" y="3932039"/>
            <a:ext cx="2866430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MSW (residual)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75296" y="3932039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~21.6 MT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91776" y="3932039"/>
            <a:ext cx="118955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20–66%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36136" y="3932039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€80–180/T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452616" y="3932039"/>
            <a:ext cx="312384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Excellent — daily municipal collection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80229" y="4279940"/>
            <a:ext cx="12869823" cy="6958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54060" y="4373880"/>
            <a:ext cx="2866430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End-of-Life Tyres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275296" y="4373880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~530,000 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91776" y="4373880"/>
            <a:ext cx="118955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40–50%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36136" y="4373880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€0–50/T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452616" y="4373880"/>
            <a:ext cx="3123843" cy="50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Moderate — best as supplementary batch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80229" y="4975741"/>
            <a:ext cx="12869823" cy="4418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54060" y="5069681"/>
            <a:ext cx="2866430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Aircraft &amp; Quarantine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275296" y="5069681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~80–100,000 T (CDG)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591776" y="5069681"/>
            <a:ext cx="118955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25–40%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36136" y="5069681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€120–200/T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452616" y="5069681"/>
            <a:ext cx="312384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Excellent at CDG — single site, captive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80229" y="5417582"/>
            <a:ext cx="12869823" cy="6958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54060" y="5511522"/>
            <a:ext cx="2866430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Medical / DASRI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275296" y="5511522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~700,000 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591776" y="5511522"/>
            <a:ext cx="118955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30–50%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136136" y="5511522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€800–1,500/T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0452616" y="5511522"/>
            <a:ext cx="3123843" cy="50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Good — urban hospitals; ÎdF highest density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80229" y="6113383"/>
            <a:ext cx="12869823" cy="4418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54060" y="6207323"/>
            <a:ext cx="2866430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Automotive Shredder Residue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275296" y="6207323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~200–350,000 T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591776" y="6207323"/>
            <a:ext cx="118955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35–50%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8136136" y="6207323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€100–200/T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0452616" y="6207323"/>
            <a:ext cx="312384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Good — ~40 shredder sites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80229" y="6555224"/>
            <a:ext cx="12869823" cy="4418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54060" y="6649164"/>
            <a:ext cx="2866430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Composite &amp; Multi-Layer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4275296" y="6649164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~500,000 T+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6591776" y="6649164"/>
            <a:ext cx="118955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40–60%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8136136" y="6649164"/>
            <a:ext cx="196167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€80–150/T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0452616" y="6649164"/>
            <a:ext cx="312384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Moderate — via sorting centres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114" y="1186458"/>
            <a:ext cx="6977777" cy="531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Reference Deployment: CDG Airport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2217" y="1950839"/>
            <a:ext cx="6632734" cy="5092303"/>
          </a:xfrm>
          <a:prstGeom prst="roundRect">
            <a:avLst>
              <a:gd name="adj" fmla="val 532"/>
            </a:avLst>
          </a:prstGeom>
          <a:solidFill>
            <a:srgbClr val="2150FE"/>
          </a:solidFill>
          <a:ln/>
        </p:spPr>
      </p:sp>
      <p:sp>
        <p:nvSpPr>
          <p:cNvPr id="4" name="Text 2"/>
          <p:cNvSpPr/>
          <p:nvPr/>
        </p:nvSpPr>
        <p:spPr>
          <a:xfrm>
            <a:off x="772716" y="2106335"/>
            <a:ext cx="212395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Why CDG?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72716" y="2527340"/>
            <a:ext cx="6271736" cy="107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Paris-Charles de Gaulle Airport exemplifies a strong candidate site: concentrated waste flows, plastics-rich feedstock, premium ICAO-regulated gate fees, proximity to industrial offtake markets, and a site operator under sustainability pressure.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2716" y="3758208"/>
            <a:ext cx="212395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Waste Composition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2716" y="4179213"/>
            <a:ext cx="6271736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CDG generates an estimated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80,000–100,000 T/year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of mixed waste: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2716" y="4588073"/>
            <a:ext cx="6271736" cy="1238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Aircraft cabin waste: 40% (ICAO-regulated)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Terminal waste: 30%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Catering/quarantine waste: 15%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Cargo and logistics: 10%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42967" y="2106335"/>
            <a:ext cx="212395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MSW Yield Scenarios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542967" y="2546866"/>
            <a:ext cx="6372939" cy="2436019"/>
          </a:xfrm>
          <a:prstGeom prst="roundRect">
            <a:avLst>
              <a:gd name="adj" fmla="val 111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50587" y="2554486"/>
            <a:ext cx="6357699" cy="4707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31204" y="2655451"/>
            <a:ext cx="2178248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Scenario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78070" y="2655451"/>
            <a:ext cx="902851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Oil Yield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49539" y="2655451"/>
            <a:ext cx="2178248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50587" y="3025259"/>
            <a:ext cx="6357699" cy="4707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731204" y="3126224"/>
            <a:ext cx="2178248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A: Full OMR (mixed MSW)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78070" y="3126224"/>
            <a:ext cx="902851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23%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49539" y="3126224"/>
            <a:ext cx="2178248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 received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50587" y="3496032"/>
            <a:ext cx="6357699" cy="7396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731204" y="3596997"/>
            <a:ext cx="2178248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B: Plastic-like fraction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78070" y="3596997"/>
            <a:ext cx="902851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65%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549539" y="3596997"/>
            <a:ext cx="2178248" cy="53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Pre-sorted plastic-rich stream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50587" y="4235648"/>
            <a:ext cx="6357699" cy="7396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31204" y="4336613"/>
            <a:ext cx="2178248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C: PE+PP polyolefins only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78070" y="4336613"/>
            <a:ext cx="902851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78%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549539" y="4336613"/>
            <a:ext cx="2178248" cy="53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High-value polyolefin stream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42967" y="5157907"/>
            <a:ext cx="283511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MSW Feedstock Composition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542967" y="5578912"/>
            <a:ext cx="6372939" cy="915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Food &amp; Organic: 38.4% → Charcoal (carbide)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Paper, Card, Wood &amp; Cotton: 37.9% → Charcoal + off-gas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Plastics &amp; Synthetic Polymers: 23.7% → Fuel oil (4 fractions)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42967" y="6634282"/>
            <a:ext cx="6372939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Source: Annex F — ADEME MODECOM 2017 full 13-category decomposition.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528" y="655082"/>
            <a:ext cx="1061085" cy="367903"/>
          </a:xfrm>
          <a:prstGeom prst="roundRect">
            <a:avLst>
              <a:gd name="adj" fmla="val 6495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915948" y="714732"/>
            <a:ext cx="822246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CHAPTER 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6528" y="1098709"/>
            <a:ext cx="9150548" cy="585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Business Model: Four Revenue Streams</a:t>
            </a:r>
            <a:endParaRPr lang="en-US" sz="3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528" y="2272546"/>
            <a:ext cx="6949440" cy="3858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7400" y="3496128"/>
            <a:ext cx="1112996" cy="197453"/>
          </a:xfrm>
          <a:prstGeom prst="roundRect">
            <a:avLst>
              <a:gd name="adj" fmla="val 6483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408" y="3539990"/>
            <a:ext cx="109728" cy="1097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29716" y="3523559"/>
            <a:ext cx="838676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Gate Fees·33%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6234494" y="3523559"/>
            <a:ext cx="333899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·33%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6278356" y="3523559"/>
            <a:ext cx="29432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5487400" y="3766733"/>
            <a:ext cx="1287161" cy="197453"/>
          </a:xfrm>
          <a:prstGeom prst="roundRect">
            <a:avLst>
              <a:gd name="adj" fmla="val 6483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408" y="3810595"/>
            <a:ext cx="109728" cy="1097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29716" y="3794165"/>
            <a:ext cx="1012841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Fuel Oil Sales·39%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6408658" y="3794165"/>
            <a:ext cx="333899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·39%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6452521" y="3794165"/>
            <a:ext cx="29432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5487400" y="4037338"/>
            <a:ext cx="1223867" cy="197454"/>
          </a:xfrm>
          <a:prstGeom prst="roundRect">
            <a:avLst>
              <a:gd name="adj" fmla="val 64833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408" y="4081201"/>
            <a:ext cx="109728" cy="1097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29716" y="4064770"/>
            <a:ext cx="949547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Char/Biochar·9%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6408087" y="4064770"/>
            <a:ext cx="271176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·9%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6451949" y="4064770"/>
            <a:ext cx="29432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1" name="Shape 15"/>
          <p:cNvSpPr/>
          <p:nvPr/>
        </p:nvSpPr>
        <p:spPr>
          <a:xfrm>
            <a:off x="5487400" y="4307944"/>
            <a:ext cx="1454610" cy="197453"/>
          </a:xfrm>
          <a:prstGeom prst="roundRect">
            <a:avLst>
              <a:gd name="adj" fmla="val 6483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1408" y="4351806"/>
            <a:ext cx="109728" cy="1097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729716" y="4335375"/>
            <a:ext cx="1180290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Recovered Metals·4%</a:t>
            </a:r>
            <a:endParaRPr lang="en-US" sz="700" dirty="0"/>
          </a:p>
        </p:txBody>
      </p:sp>
      <p:sp>
        <p:nvSpPr>
          <p:cNvPr id="24" name="Text 17"/>
          <p:cNvSpPr/>
          <p:nvPr/>
        </p:nvSpPr>
        <p:spPr>
          <a:xfrm>
            <a:off x="6638830" y="4335375"/>
            <a:ext cx="271176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·4%</a:t>
            </a: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6682693" y="4335375"/>
            <a:ext cx="29432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6" name="Shape 19"/>
          <p:cNvSpPr/>
          <p:nvPr/>
        </p:nvSpPr>
        <p:spPr>
          <a:xfrm>
            <a:off x="5487400" y="4578548"/>
            <a:ext cx="1377029" cy="197453"/>
          </a:xfrm>
          <a:prstGeom prst="roundRect">
            <a:avLst>
              <a:gd name="adj" fmla="val 6483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1408" y="4622411"/>
            <a:ext cx="109728" cy="10972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729716" y="4605980"/>
            <a:ext cx="1102709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Carbon Credits·15%</a:t>
            </a:r>
            <a:endParaRPr lang="en-US" sz="700" dirty="0"/>
          </a:p>
        </p:txBody>
      </p:sp>
      <p:sp>
        <p:nvSpPr>
          <p:cNvPr id="29" name="Text 21"/>
          <p:cNvSpPr/>
          <p:nvPr/>
        </p:nvSpPr>
        <p:spPr>
          <a:xfrm>
            <a:off x="6498527" y="4605980"/>
            <a:ext cx="333899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·15%</a:t>
            </a:r>
            <a:endParaRPr lang="en-US" sz="700" dirty="0"/>
          </a:p>
        </p:txBody>
      </p:sp>
      <p:sp>
        <p:nvSpPr>
          <p:cNvPr id="30" name="Text 22"/>
          <p:cNvSpPr/>
          <p:nvPr/>
        </p:nvSpPr>
        <p:spPr>
          <a:xfrm>
            <a:off x="6542389" y="4605980"/>
            <a:ext cx="29432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9EEE7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31" name="Text 23"/>
          <p:cNvSpPr/>
          <p:nvPr/>
        </p:nvSpPr>
        <p:spPr>
          <a:xfrm>
            <a:off x="8241863" y="2157532"/>
            <a:ext cx="380333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Annual Revenue Breakdown (Year 3)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8241863" y="2639735"/>
            <a:ext cx="5599628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Based on URC-2000 reference deployment: 46,200 T/year at 330 operating days.</a:t>
            </a:r>
            <a:endParaRPr lang="en-US" sz="1550" dirty="0"/>
          </a:p>
        </p:txBody>
      </p:sp>
      <p:sp>
        <p:nvSpPr>
          <p:cNvPr id="33" name="Shape 25"/>
          <p:cNvSpPr/>
          <p:nvPr/>
        </p:nvSpPr>
        <p:spPr>
          <a:xfrm>
            <a:off x="8241863" y="3474125"/>
            <a:ext cx="5599628" cy="3887391"/>
          </a:xfrm>
          <a:prstGeom prst="roundRect">
            <a:avLst>
              <a:gd name="adj" fmla="val 76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249483" y="3481745"/>
            <a:ext cx="5584388" cy="553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8448794" y="3602950"/>
            <a:ext cx="266938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Stream</a:t>
            </a:r>
            <a:endParaRPr lang="en-US" sz="1550" dirty="0"/>
          </a:p>
        </p:txBody>
      </p:sp>
      <p:sp>
        <p:nvSpPr>
          <p:cNvPr id="36" name="Text 28"/>
          <p:cNvSpPr/>
          <p:nvPr/>
        </p:nvSpPr>
        <p:spPr>
          <a:xfrm>
            <a:off x="11523940" y="3602950"/>
            <a:ext cx="99024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Annual</a:t>
            </a:r>
            <a:endParaRPr lang="en-US" sz="1550" dirty="0"/>
          </a:p>
        </p:txBody>
      </p:sp>
      <p:sp>
        <p:nvSpPr>
          <p:cNvPr id="37" name="Text 29"/>
          <p:cNvSpPr/>
          <p:nvPr/>
        </p:nvSpPr>
        <p:spPr>
          <a:xfrm>
            <a:off x="12919948" y="3602950"/>
            <a:ext cx="71485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%</a:t>
            </a:r>
            <a:endParaRPr lang="en-US" sz="1550" dirty="0"/>
          </a:p>
        </p:txBody>
      </p:sp>
      <p:sp>
        <p:nvSpPr>
          <p:cNvPr id="38" name="Shape 30"/>
          <p:cNvSpPr/>
          <p:nvPr/>
        </p:nvSpPr>
        <p:spPr>
          <a:xfrm>
            <a:off x="8249483" y="4034909"/>
            <a:ext cx="5584388" cy="5531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448794" y="4156115"/>
            <a:ext cx="266938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Gate fees</a:t>
            </a:r>
            <a:endParaRPr lang="en-US" sz="1550" dirty="0"/>
          </a:p>
        </p:txBody>
      </p:sp>
      <p:sp>
        <p:nvSpPr>
          <p:cNvPr id="40" name="Text 32"/>
          <p:cNvSpPr/>
          <p:nvPr/>
        </p:nvSpPr>
        <p:spPr>
          <a:xfrm>
            <a:off x="11523940" y="4156115"/>
            <a:ext cx="99024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€5.3M</a:t>
            </a:r>
            <a:endParaRPr lang="en-US" sz="1550" dirty="0"/>
          </a:p>
        </p:txBody>
      </p:sp>
      <p:sp>
        <p:nvSpPr>
          <p:cNvPr id="41" name="Text 33"/>
          <p:cNvSpPr/>
          <p:nvPr/>
        </p:nvSpPr>
        <p:spPr>
          <a:xfrm>
            <a:off x="12919948" y="4156115"/>
            <a:ext cx="71485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33%</a:t>
            </a:r>
            <a:endParaRPr lang="en-US" sz="1550" dirty="0"/>
          </a:p>
        </p:txBody>
      </p:sp>
      <p:sp>
        <p:nvSpPr>
          <p:cNvPr id="42" name="Shape 34"/>
          <p:cNvSpPr/>
          <p:nvPr/>
        </p:nvSpPr>
        <p:spPr>
          <a:xfrm>
            <a:off x="8249483" y="4588073"/>
            <a:ext cx="5584388" cy="553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3" name="Text 35"/>
          <p:cNvSpPr/>
          <p:nvPr/>
        </p:nvSpPr>
        <p:spPr>
          <a:xfrm>
            <a:off x="8448794" y="4709279"/>
            <a:ext cx="266938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Fuel oil sales</a:t>
            </a:r>
            <a:endParaRPr lang="en-US" sz="1550" dirty="0"/>
          </a:p>
        </p:txBody>
      </p:sp>
      <p:sp>
        <p:nvSpPr>
          <p:cNvPr id="44" name="Text 36"/>
          <p:cNvSpPr/>
          <p:nvPr/>
        </p:nvSpPr>
        <p:spPr>
          <a:xfrm>
            <a:off x="11523940" y="4709279"/>
            <a:ext cx="99024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€6.3M</a:t>
            </a:r>
            <a:endParaRPr lang="en-US" sz="1550" dirty="0"/>
          </a:p>
        </p:txBody>
      </p:sp>
      <p:sp>
        <p:nvSpPr>
          <p:cNvPr id="45" name="Text 37"/>
          <p:cNvSpPr/>
          <p:nvPr/>
        </p:nvSpPr>
        <p:spPr>
          <a:xfrm>
            <a:off x="12919948" y="4709279"/>
            <a:ext cx="71485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39%</a:t>
            </a:r>
            <a:endParaRPr lang="en-US" sz="1550" dirty="0"/>
          </a:p>
        </p:txBody>
      </p:sp>
      <p:sp>
        <p:nvSpPr>
          <p:cNvPr id="46" name="Shape 38"/>
          <p:cNvSpPr/>
          <p:nvPr/>
        </p:nvSpPr>
        <p:spPr>
          <a:xfrm>
            <a:off x="8249483" y="5141238"/>
            <a:ext cx="5584388" cy="5531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7" name="Text 39"/>
          <p:cNvSpPr/>
          <p:nvPr/>
        </p:nvSpPr>
        <p:spPr>
          <a:xfrm>
            <a:off x="8448794" y="5262443"/>
            <a:ext cx="266938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Char/biochar</a:t>
            </a:r>
            <a:endParaRPr lang="en-US" sz="1550" dirty="0"/>
          </a:p>
        </p:txBody>
      </p:sp>
      <p:sp>
        <p:nvSpPr>
          <p:cNvPr id="48" name="Text 40"/>
          <p:cNvSpPr/>
          <p:nvPr/>
        </p:nvSpPr>
        <p:spPr>
          <a:xfrm>
            <a:off x="11523940" y="5262443"/>
            <a:ext cx="99024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€1.4M</a:t>
            </a:r>
            <a:endParaRPr lang="en-US" sz="1550" dirty="0"/>
          </a:p>
        </p:txBody>
      </p:sp>
      <p:sp>
        <p:nvSpPr>
          <p:cNvPr id="49" name="Text 41"/>
          <p:cNvSpPr/>
          <p:nvPr/>
        </p:nvSpPr>
        <p:spPr>
          <a:xfrm>
            <a:off x="12919948" y="5262443"/>
            <a:ext cx="71485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9%</a:t>
            </a:r>
            <a:endParaRPr lang="en-US" sz="1550" dirty="0"/>
          </a:p>
        </p:txBody>
      </p:sp>
      <p:sp>
        <p:nvSpPr>
          <p:cNvPr id="50" name="Shape 42"/>
          <p:cNvSpPr/>
          <p:nvPr/>
        </p:nvSpPr>
        <p:spPr>
          <a:xfrm>
            <a:off x="8249483" y="5694402"/>
            <a:ext cx="5584388" cy="553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1" name="Text 43"/>
          <p:cNvSpPr/>
          <p:nvPr/>
        </p:nvSpPr>
        <p:spPr>
          <a:xfrm>
            <a:off x="8448794" y="5815608"/>
            <a:ext cx="266938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Recovered metals</a:t>
            </a:r>
            <a:endParaRPr lang="en-US" sz="1550" dirty="0"/>
          </a:p>
        </p:txBody>
      </p:sp>
      <p:sp>
        <p:nvSpPr>
          <p:cNvPr id="52" name="Text 44"/>
          <p:cNvSpPr/>
          <p:nvPr/>
        </p:nvSpPr>
        <p:spPr>
          <a:xfrm>
            <a:off x="11523940" y="5815608"/>
            <a:ext cx="99024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€0.6M</a:t>
            </a:r>
            <a:endParaRPr lang="en-US" sz="1550" dirty="0"/>
          </a:p>
        </p:txBody>
      </p:sp>
      <p:sp>
        <p:nvSpPr>
          <p:cNvPr id="53" name="Text 45"/>
          <p:cNvSpPr/>
          <p:nvPr/>
        </p:nvSpPr>
        <p:spPr>
          <a:xfrm>
            <a:off x="12919948" y="5815608"/>
            <a:ext cx="71485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4%</a:t>
            </a:r>
            <a:endParaRPr lang="en-US" sz="1550" dirty="0"/>
          </a:p>
        </p:txBody>
      </p:sp>
      <p:sp>
        <p:nvSpPr>
          <p:cNvPr id="54" name="Shape 46"/>
          <p:cNvSpPr/>
          <p:nvPr/>
        </p:nvSpPr>
        <p:spPr>
          <a:xfrm>
            <a:off x="8249483" y="6247567"/>
            <a:ext cx="5584388" cy="5531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5" name="Text 47"/>
          <p:cNvSpPr/>
          <p:nvPr/>
        </p:nvSpPr>
        <p:spPr>
          <a:xfrm>
            <a:off x="8448794" y="6368772"/>
            <a:ext cx="266938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Carbon credits</a:t>
            </a:r>
            <a:endParaRPr lang="en-US" sz="1550" dirty="0"/>
          </a:p>
        </p:txBody>
      </p:sp>
      <p:sp>
        <p:nvSpPr>
          <p:cNvPr id="56" name="Text 48"/>
          <p:cNvSpPr/>
          <p:nvPr/>
        </p:nvSpPr>
        <p:spPr>
          <a:xfrm>
            <a:off x="11523940" y="6368772"/>
            <a:ext cx="99024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€2.5M</a:t>
            </a:r>
            <a:endParaRPr lang="en-US" sz="1550" dirty="0"/>
          </a:p>
        </p:txBody>
      </p:sp>
      <p:sp>
        <p:nvSpPr>
          <p:cNvPr id="57" name="Text 49"/>
          <p:cNvSpPr/>
          <p:nvPr/>
        </p:nvSpPr>
        <p:spPr>
          <a:xfrm>
            <a:off x="12919948" y="6368772"/>
            <a:ext cx="71485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15%</a:t>
            </a:r>
            <a:endParaRPr lang="en-US" sz="1550" dirty="0"/>
          </a:p>
        </p:txBody>
      </p:sp>
      <p:sp>
        <p:nvSpPr>
          <p:cNvPr id="58" name="Shape 50"/>
          <p:cNvSpPr/>
          <p:nvPr/>
        </p:nvSpPr>
        <p:spPr>
          <a:xfrm>
            <a:off x="8249483" y="6800731"/>
            <a:ext cx="5584388" cy="553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9" name="Text 51"/>
          <p:cNvSpPr/>
          <p:nvPr/>
        </p:nvSpPr>
        <p:spPr>
          <a:xfrm>
            <a:off x="8448794" y="6921937"/>
            <a:ext cx="266938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TOTAL</a:t>
            </a:r>
            <a:endParaRPr lang="en-US" sz="1550" dirty="0"/>
          </a:p>
        </p:txBody>
      </p:sp>
      <p:sp>
        <p:nvSpPr>
          <p:cNvPr id="60" name="Text 52"/>
          <p:cNvSpPr/>
          <p:nvPr/>
        </p:nvSpPr>
        <p:spPr>
          <a:xfrm>
            <a:off x="11523940" y="6921937"/>
            <a:ext cx="99024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€16.1M</a:t>
            </a:r>
            <a:endParaRPr lang="en-US" sz="1550" dirty="0"/>
          </a:p>
        </p:txBody>
      </p:sp>
      <p:sp>
        <p:nvSpPr>
          <p:cNvPr id="61" name="Text 53"/>
          <p:cNvSpPr/>
          <p:nvPr/>
        </p:nvSpPr>
        <p:spPr>
          <a:xfrm>
            <a:off x="12919948" y="6921937"/>
            <a:ext cx="71485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100%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90199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Oil Pricing Scenarios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624971"/>
            <a:ext cx="1295495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Oil pricing is modelled at three scenarios based on current market benchmarks (ICIS plastic pyrolysis oil index, NWE naphtha, fossil gasoil). Urban Rig's waste-derived oil qualifies under EU sustainability frameworks and commands an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ISCC-certified premium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over conventional fossil equivalents — expected to widen as circular economy regulations tighten.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3865721"/>
            <a:ext cx="12954952" cy="1648182"/>
          </a:xfrm>
          <a:prstGeom prst="roundRect">
            <a:avLst>
              <a:gd name="adj" fmla="val 1906"/>
            </a:avLst>
          </a:prstGeom>
          <a:solidFill>
            <a:srgbClr val="315251"/>
          </a:solidFill>
          <a:ln/>
        </p:spPr>
      </p:sp>
      <p:sp>
        <p:nvSpPr>
          <p:cNvPr id="5" name="Shape 3"/>
          <p:cNvSpPr/>
          <p:nvPr/>
        </p:nvSpPr>
        <p:spPr>
          <a:xfrm>
            <a:off x="837724" y="3865721"/>
            <a:ext cx="4318278" cy="1648182"/>
          </a:xfrm>
          <a:prstGeom prst="roundRect">
            <a:avLst>
              <a:gd name="adj" fmla="val 1906"/>
            </a:avLst>
          </a:prstGeom>
          <a:solidFill>
            <a:srgbClr val="315251"/>
          </a:solidFill>
          <a:ln/>
        </p:spPr>
      </p:sp>
      <p:sp>
        <p:nvSpPr>
          <p:cNvPr id="6" name="Text 4"/>
          <p:cNvSpPr/>
          <p:nvPr/>
        </p:nvSpPr>
        <p:spPr>
          <a:xfrm>
            <a:off x="1047155" y="407515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Conservative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47155" y="4508778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€480/T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(€0.41/L)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7155" y="4969431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Annual oil revenue: ~€4.7M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56002" y="3865721"/>
            <a:ext cx="4318278" cy="1648182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10" name="Shape 8"/>
          <p:cNvSpPr/>
          <p:nvPr/>
        </p:nvSpPr>
        <p:spPr>
          <a:xfrm>
            <a:off x="5156002" y="3865721"/>
            <a:ext cx="22860" cy="1648182"/>
          </a:xfrm>
          <a:prstGeom prst="roundRect">
            <a:avLst>
              <a:gd name="adj" fmla="val 137440"/>
            </a:avLst>
          </a:prstGeom>
          <a:solidFill>
            <a:srgbClr val="4A6B6A"/>
          </a:solidFill>
          <a:ln/>
        </p:spPr>
      </p:sp>
      <p:sp>
        <p:nvSpPr>
          <p:cNvPr id="11" name="Text 9"/>
          <p:cNvSpPr/>
          <p:nvPr/>
        </p:nvSpPr>
        <p:spPr>
          <a:xfrm>
            <a:off x="5365433" y="407515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Base Case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365433" y="4508778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€641/T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(€0.55/L)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65433" y="4969431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Annual oil revenue: ~€6.3M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474279" y="3865721"/>
            <a:ext cx="4318278" cy="1648182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15" name="Shape 13"/>
          <p:cNvSpPr/>
          <p:nvPr/>
        </p:nvSpPr>
        <p:spPr>
          <a:xfrm>
            <a:off x="9474279" y="3865721"/>
            <a:ext cx="22860" cy="1648182"/>
          </a:xfrm>
          <a:prstGeom prst="roundRect">
            <a:avLst>
              <a:gd name="adj" fmla="val 137440"/>
            </a:avLst>
          </a:prstGeom>
          <a:solidFill>
            <a:srgbClr val="4A6B6A"/>
          </a:solidFill>
          <a:ln/>
        </p:spPr>
      </p:sp>
      <p:sp>
        <p:nvSpPr>
          <p:cNvPr id="16" name="Text 14"/>
          <p:cNvSpPr/>
          <p:nvPr/>
        </p:nvSpPr>
        <p:spPr>
          <a:xfrm>
            <a:off x="9683710" y="4075152"/>
            <a:ext cx="298346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Optimistic (ISCC Premium)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683710" y="4508778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€895/T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(€0.76/L)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83710" y="4969431"/>
            <a:ext cx="389941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Annual oil revenue: ~€8.8M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7724" y="5749528"/>
            <a:ext cx="12954952" cy="889873"/>
          </a:xfrm>
          <a:prstGeom prst="roundRect">
            <a:avLst>
              <a:gd name="adj" fmla="val 3531"/>
            </a:avLst>
          </a:prstGeom>
          <a:solidFill>
            <a:srgbClr val="441709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155" y="6048851"/>
            <a:ext cx="261818" cy="20943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18404" y="6011228"/>
            <a:ext cx="1206484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Source: Annex G — Oil Fraction Pricing Model; ICIS (2024–2025). ISCC = International Sustainability and Carbon Certification.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94391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Energy Supply Model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933819"/>
            <a:ext cx="287166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V2: Purchased Heating Oil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37724" y="3451265"/>
            <a:ext cx="6221968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V2 model uses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purchased heavy fuel oil for heating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, ensuring reliable and consistent operations independent of feedstock composition.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7724" y="4644866"/>
            <a:ext cx="6221968" cy="148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Heating demand: 2,714 MJ per tonne processed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Annual cost: ~€1.0M at full capacity (€0.40/L, HFO Rotterdam benchmark)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Ensures steady-state operations and predictable costs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27476" y="2724388"/>
            <a:ext cx="6523673" cy="3710821"/>
          </a:xfrm>
          <a:prstGeom prst="roundRect">
            <a:avLst>
              <a:gd name="adj" fmla="val 847"/>
            </a:avLst>
          </a:prstGeom>
          <a:solidFill>
            <a:srgbClr val="2150FE"/>
          </a:solidFill>
          <a:ln/>
        </p:spPr>
      </p:sp>
      <p:sp>
        <p:nvSpPr>
          <p:cNvPr id="7" name="Text 5"/>
          <p:cNvSpPr/>
          <p:nvPr/>
        </p:nvSpPr>
        <p:spPr>
          <a:xfrm>
            <a:off x="7636907" y="293381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By-Product Value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36907" y="3451265"/>
            <a:ext cx="6104811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Char/biochar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(~41.4 T/day at full capacity, 13,673 T/year): all char sold commercially.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36907" y="4309824"/>
            <a:ext cx="6104811" cy="743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€100/T as fuel briquettes →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€1.4M/year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(base case)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€350/T as certified agricultural biochar →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€4.8M/year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36907" y="5241607"/>
            <a:ext cx="6104811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Off-gas: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Monitored for composition and energy content — provides valuable data on process efficiency. Not used for internal heating (recovery too variable).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648" y="1050250"/>
            <a:ext cx="881896" cy="287893"/>
          </a:xfrm>
          <a:prstGeom prst="roundRect">
            <a:avLst>
              <a:gd name="adj" fmla="val 6883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1286708" y="1099780"/>
            <a:ext cx="683776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CHAPTER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87648" y="1390174"/>
            <a:ext cx="7735491" cy="48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Deployment Economics &amp; Financial Returns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1187648" y="2200989"/>
            <a:ext cx="277796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Illustrative CAPEX — URC-2000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7648" y="2590205"/>
            <a:ext cx="5926098" cy="4089559"/>
          </a:xfrm>
          <a:prstGeom prst="roundRect">
            <a:avLst>
              <a:gd name="adj" fmla="val 60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5268" y="2597825"/>
            <a:ext cx="5910858" cy="4074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60408" y="2683431"/>
            <a:ext cx="350817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06246" y="2683431"/>
            <a:ext cx="17348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95268" y="3005257"/>
            <a:ext cx="5910858" cy="4074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60408" y="3090863"/>
            <a:ext cx="350817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URC-2000 equipment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06246" y="3090863"/>
            <a:ext cx="17348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€50.0M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95268" y="3412688"/>
            <a:ext cx="5910858" cy="4074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60408" y="3498294"/>
            <a:ext cx="350817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Building &amp; site preparation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06246" y="3498294"/>
            <a:ext cx="17348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€5.0M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95268" y="3820120"/>
            <a:ext cx="5910858" cy="4074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360408" y="3905726"/>
            <a:ext cx="350817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Installation, freight &amp; training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06246" y="3905726"/>
            <a:ext cx="17348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€0.9M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95268" y="4227552"/>
            <a:ext cx="5910858" cy="4074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360408" y="4313158"/>
            <a:ext cx="350817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Accessories, spares &amp; monitoring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06246" y="4313158"/>
            <a:ext cx="17348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€2.0M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95268" y="4634984"/>
            <a:ext cx="5910858" cy="4074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60408" y="4720590"/>
            <a:ext cx="350817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Pre-sorting equipment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06246" y="4720590"/>
            <a:ext cx="17348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€1.1M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95268" y="5042416"/>
            <a:ext cx="5910858" cy="4074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360408" y="5128022"/>
            <a:ext cx="350817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Post-sorting equipment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06246" y="5128022"/>
            <a:ext cx="17348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€0.4M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195268" y="5449848"/>
            <a:ext cx="5910858" cy="4074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360408" y="5535454"/>
            <a:ext cx="350817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Compliance &amp; engineering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06246" y="5535454"/>
            <a:ext cx="17348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€1.4M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95268" y="5857280"/>
            <a:ext cx="5910858" cy="4074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360408" y="5942886"/>
            <a:ext cx="350817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Contingency (5%)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06246" y="5942886"/>
            <a:ext cx="17348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€3.0M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195268" y="6264712"/>
            <a:ext cx="5910858" cy="4074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60408" y="6350317"/>
            <a:ext cx="350817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TOTAL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06246" y="6350317"/>
            <a:ext cx="17348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€63.8M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87648" y="6826091"/>
            <a:ext cx="5926098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Financing: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70% bank debt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(€44.6M at 12% over 10 years) /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30% equity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(€19.1M).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24036" y="2200989"/>
            <a:ext cx="219194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Illustrative Return Profile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524036" y="2590205"/>
            <a:ext cx="2897981" cy="1221224"/>
          </a:xfrm>
          <a:prstGeom prst="roundRect">
            <a:avLst>
              <a:gd name="adj" fmla="val 2028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11916" y="2778085"/>
            <a:ext cx="194250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EBITDA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711916" y="3151108"/>
            <a:ext cx="25222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€8.9M/year (55% margin) at full capacity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552152" y="2590205"/>
            <a:ext cx="2897981" cy="1221224"/>
          </a:xfrm>
          <a:prstGeom prst="roundRect">
            <a:avLst>
              <a:gd name="adj" fmla="val 2028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40033" y="2778085"/>
            <a:ext cx="194250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Simple Payback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740033" y="3151108"/>
            <a:ext cx="25222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~7 years (CAPEX ÷ steady-state EBITDA)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524036" y="3941564"/>
            <a:ext cx="2897981" cy="1221224"/>
          </a:xfrm>
          <a:prstGeom prst="roundRect">
            <a:avLst>
              <a:gd name="adj" fmla="val 2028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11916" y="4129445"/>
            <a:ext cx="194250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Equity Payback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711916" y="4502468"/>
            <a:ext cx="25222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~12 years (cumulative free cash flow net of equity investment)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0552152" y="3941564"/>
            <a:ext cx="2897981" cy="1221224"/>
          </a:xfrm>
          <a:prstGeom prst="roundRect">
            <a:avLst>
              <a:gd name="adj" fmla="val 2028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740033" y="4129445"/>
            <a:ext cx="210669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Debt-Service Breakeven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740033" y="4502468"/>
            <a:ext cx="25222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Year 6 — cumulative cash flow after debt service turns positive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524036" y="5292923"/>
            <a:ext cx="5926098" cy="985004"/>
          </a:xfrm>
          <a:prstGeom prst="roundRect">
            <a:avLst>
              <a:gd name="adj" fmla="val 2515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11916" y="5480804"/>
            <a:ext cx="225516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Annualised ROI on Equity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711916" y="5853827"/>
            <a:ext cx="555033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~17.6%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38011" y="491014"/>
            <a:ext cx="5239822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Full Financial Summary (France, URC-2000)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011" y="943094"/>
            <a:ext cx="8351520" cy="47471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138011" y="5689402"/>
            <a:ext cx="8354258" cy="2049066"/>
          </a:xfrm>
          <a:prstGeom prst="roundRect">
            <a:avLst>
              <a:gd name="adj" fmla="val 82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145631" y="5697022"/>
            <a:ext cx="8339018" cy="2259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258264" y="5740837"/>
            <a:ext cx="3106698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Metric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97610" y="5740837"/>
            <a:ext cx="4774525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Value (Year 3, full capacity)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145631" y="5923002"/>
            <a:ext cx="8339018" cy="2259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258264" y="5966817"/>
            <a:ext cx="3106698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CAPEX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97610" y="5966817"/>
            <a:ext cx="4774525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€63.8M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45631" y="6148983"/>
            <a:ext cx="8339018" cy="2259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258264" y="6192798"/>
            <a:ext cx="3106698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Annual Throughput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597610" y="6192798"/>
            <a:ext cx="4774525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46,200 T/year (140 T/day × 330 days)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45631" y="6374963"/>
            <a:ext cx="8339018" cy="2259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258264" y="6418778"/>
            <a:ext cx="3106698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Annual Revenue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597610" y="6418778"/>
            <a:ext cx="4774525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€16.1M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145631" y="6600944"/>
            <a:ext cx="8339018" cy="2259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258264" y="6644759"/>
            <a:ext cx="3106698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Annual OPEX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97610" y="6644759"/>
            <a:ext cx="4774525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€7.3M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145631" y="6826925"/>
            <a:ext cx="8339018" cy="2259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258264" y="6870740"/>
            <a:ext cx="3106698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EBITDA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597610" y="6870740"/>
            <a:ext cx="4774525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€8.9M (55% margin)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145631" y="7052905"/>
            <a:ext cx="8339018" cy="2259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258264" y="7096720"/>
            <a:ext cx="3106698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Simple Payback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597610" y="7096720"/>
            <a:ext cx="4774525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~7 years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45631" y="7278886"/>
            <a:ext cx="8339018" cy="2259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3258264" y="7322701"/>
            <a:ext cx="3106698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Equity Payback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597610" y="7322701"/>
            <a:ext cx="4774525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~12 years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145631" y="7504867"/>
            <a:ext cx="8339018" cy="2259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3258264" y="7548682"/>
            <a:ext cx="3106698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Debt-Service Breakeven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597610" y="7548682"/>
            <a:ext cx="4774525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Year 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3045" y="797719"/>
            <a:ext cx="1031915" cy="355878"/>
          </a:xfrm>
          <a:prstGeom prst="roundRect">
            <a:avLst>
              <a:gd name="adj" fmla="val 6547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6379488" y="855940"/>
            <a:ext cx="79902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CHAPTER 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63045" y="1225510"/>
            <a:ext cx="7590711" cy="1142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Proven Technology: Validation &amp; Awards</a:t>
            </a:r>
            <a:endParaRPr lang="en-US" sz="3550" dirty="0"/>
          </a:p>
        </p:txBody>
      </p:sp>
      <p:sp>
        <p:nvSpPr>
          <p:cNvPr id="6" name="Shape 3"/>
          <p:cNvSpPr/>
          <p:nvPr/>
        </p:nvSpPr>
        <p:spPr>
          <a:xfrm>
            <a:off x="6263045" y="2637473"/>
            <a:ext cx="436840" cy="43684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7" name="Text 4"/>
          <p:cNvSpPr/>
          <p:nvPr/>
        </p:nvSpPr>
        <p:spPr>
          <a:xfrm>
            <a:off x="6879788" y="2704148"/>
            <a:ext cx="4141827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Asada Shokai Industrial Test Programme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879788" y="3097649"/>
            <a:ext cx="6973967" cy="598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Noda factory, Chiba Prefecture, 2022 — independent measurement by Land Brain Co., Ltd. Oil yields 70–82% from pure plastics across nine resin types.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045" y="4056221"/>
            <a:ext cx="436840" cy="43684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10" name="Text 7"/>
          <p:cNvSpPr/>
          <p:nvPr/>
        </p:nvSpPr>
        <p:spPr>
          <a:xfrm>
            <a:off x="6879788" y="4122896"/>
            <a:ext cx="3917633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KANSO Technos &amp; NKKK Certification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879788" y="4516398"/>
            <a:ext cx="6973967" cy="897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Independent exhaust gas analysis confirming emissions 5–50× below French standards. NKKK (Japan Marine Survey Association) certified oil quality: 43.27 MJ/kg, flashpoint 46°C, sulfur &lt;0.2%.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045" y="5774293"/>
            <a:ext cx="436840" cy="43684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13" name="Text 10"/>
          <p:cNvSpPr/>
          <p:nvPr/>
        </p:nvSpPr>
        <p:spPr>
          <a:xfrm>
            <a:off x="6879788" y="5840968"/>
            <a:ext cx="3573066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Field-Proven Operations &amp; Awards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879788" y="6234470"/>
            <a:ext cx="6973967" cy="1197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Processing plant operational in Shandong Qufu, China. </a:t>
            </a:r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 Waste Zero Award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Innovation category, Japan Foundation / Ministry of the Environment (June 2019). </a:t>
            </a:r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"Plastics Smart"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designation — Ministry of Economy, Trade and Industry, Japan.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818561"/>
            <a:ext cx="2340650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CONFIDENTIAL | MARCH 2026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324124" y="2233017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Contact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6324124" y="3163014"/>
            <a:ext cx="6801207" cy="850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Stephane Husser</a:t>
            </a:r>
            <a:endParaRPr lang="en-US" sz="5350" dirty="0"/>
          </a:p>
        </p:txBody>
      </p:sp>
      <p:sp>
        <p:nvSpPr>
          <p:cNvPr id="6" name="Text 3"/>
          <p:cNvSpPr/>
          <p:nvPr/>
        </p:nvSpPr>
        <p:spPr>
          <a:xfrm>
            <a:off x="6324124" y="4327208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Managing Director, Urban Rig Europe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24124" y="4897874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u="sng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stephane.husser@urban-rig.eu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24124" y="5468541"/>
            <a:ext cx="7468553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Urban Rig Europe is the exclusive regional deployment partner for Urban Rig pyrolysis technology. All enquiries are handled directly by the Managing Director.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2026-03-24T17:40:20Z</dcterms:created>
  <dcterms:modified xsi:type="dcterms:W3CDTF">2026-03-24T17:40:20Z</dcterms:modified>
</cp:coreProperties>
</file>