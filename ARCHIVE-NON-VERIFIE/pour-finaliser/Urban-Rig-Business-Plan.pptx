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14B8A6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Gate fees</c:v>
                </c:pt>
                <c:pt idx="1">
                  <c:v>Oil sales</c:v>
                </c:pt>
                <c:pt idx="2">
                  <c:v>Char/biochar</c:v>
                </c:pt>
                <c:pt idx="3">
                  <c:v>Metals</c:v>
                </c:pt>
                <c:pt idx="4">
                  <c:v>Carbon credits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33</c:v>
                </c:pt>
                <c:pt idx="1">
                  <c:v>39</c:v>
                </c:pt>
                <c:pt idx="2">
                  <c:v>9</c:v>
                </c:pt>
                <c:pt idx="3">
                  <c:v>4</c:v>
                </c:pt>
                <c:pt idx="4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Oil Revenue (Year 3)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</c:v>
                  </c:pt>
                  <c:pt idx="1">
                    <c:v>Base Case</c:v>
                  </c:pt>
                  <c:pt idx="2">
                    <c:v>Optimistic (ISCC)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4.7</c:v>
                </c:pt>
                <c:pt idx="1">
                  <c:v>6.3</c:v>
                </c:pt>
                <c:pt idx="2">
                  <c:v>8.8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 Rig Europe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Plan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mixed, unsorted waste into marketable oil, biochar, and metals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dioxin emissions.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79576"/>
            <a:ext cx="292608" cy="292608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795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Waste Becomes a Crisis: The Global Challenge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18488"/>
            <a:ext cx="292608" cy="292608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18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5819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Transforming Waste with Urban Rig Technology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292608" cy="292608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57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02082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Versatility: Managing Non-Recyclable and Composite Materials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496312"/>
            <a:ext cx="292608" cy="292608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96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45973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Opportunities and Business Cases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2935224"/>
            <a:ext cx="292608" cy="292608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352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8986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and Revenues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374136"/>
            <a:ext cx="292608" cy="292608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374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3337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Analysis: SWOT, Porter's, PESTEL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3813048"/>
            <a:ext cx="292608" cy="292608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13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3776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Become a Partner?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4251960"/>
            <a:ext cx="292608" cy="292608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51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421538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Awards and Credentials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Waste Becomes a Crisis: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Global Challenge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|  When Waste Becomes a Crisis: The Global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Global Waste Crisis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2.01B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MSW generated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(2016)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16459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3.4B by 2050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225M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91840" y="2011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in Europe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2834640"/>
            <a:ext cx="16459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513 kg per capita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22.9%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26480" y="2011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landfilled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EU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834640"/>
            <a:ext cx="16459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 incinerated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Bank 'What a Waste 2.0' (2018); Eurostat (2023)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|  When Waste Becomes a Crisis: The Global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French Context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8862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3886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789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38.5M tonnes MSW/year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 kg per capita (EU avg: 505 kg)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38.1% incinerated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18.1% landfilled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26.9% recycled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21.6M tonnes/year could be redirected to resource recovery.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38862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51560"/>
            <a:ext cx="38862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789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Ile-de-France Region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60020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12.3M population (18% of France)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6.2M tonnes/year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17,000 tonnes/day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to incineration, 18% to landfill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mandates: 65% recycling by 2035, max 10% landfill — France is far from meeting these targets.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ADEME 2022; ORDIF; EU Directive 2018/851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Solution: Transforming Waste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Urban Rig Technology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|  The Solution: Transforming Waste with Urban Rig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Patented Superheated-Steam Pyrolysis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Sorting Required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waste loaded directly — mud, metals, food, plastics. Only 1 day storage to reduce surface moisture.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5156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Waste Conditions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muddy, wet, contaminated feedstock. Engineered for high-moisture content waste.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4320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&amp; Halogenated Plastics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246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Catalytic layer adsorbs chlorine; steam neutralises HCl. Handles brominated and fluorinated plastics.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74320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74320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Minimal Staff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2461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7-zone microcomputer-controlled process. URC-2000 (200 T/day) operates with ~15 staff.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|  The Solution: Transforming Waste with Urban Rig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Marketable Oil Fractions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2011680"/>
                <a:gridCol w="1371600"/>
                <a:gridCol w="29260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Calorific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naphtha (C5-C8)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44-46 MJ/kg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Petrochemical feedstock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Gas/Diesel oil (C8-C20)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43-47 MJ/kg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Recycled diesel, SAF, industrial fuel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oil (C20+)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40-45 MJ/kg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fuel oil, bitumen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Asphaltenes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 MJ/kg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fuel, biochar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quality certified by NKKK: 43.27 MJ/kg — comparable to fossil diesel (42.6 MJ/kg).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|  The Solution: Transforming Waste with Urban Rig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Environmental Performance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0292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Pollutant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Rig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French Limit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 Below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 ppm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mg/m³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 ppm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mg/m³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&gt;50x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mg/m³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&gt;13x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&lt;0.002 g/m³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mg/m³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&gt;5x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51560"/>
            <a:ext cx="2926080" cy="23774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60720" y="1234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Dioxin</a:t>
            </a:r>
            <a:endParaRPr lang="en-US" sz="2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Emissions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943600" y="21031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Anoxic (oxygen-free) reactor — dioxins and CO₂ are simply not generated. A process advantage, not a filtration afterthought.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KANSO Technos independent exhaust gas analysis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Versatility: Managing Non-Recyclable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Composite Materials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|  Versatility: Managing Non-Recyclable and Composite Materials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Feedstock Versatility — What Urban Rig Processes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188720"/>
            <a:ext cx="502920" cy="502920"/>
          </a:xfrm>
          <a:prstGeom prst="oval">
            <a:avLst/>
          </a:prstGeom>
          <a:solidFill>
            <a:srgbClr val="CCFB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2801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&amp; Household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Unsorted household waste, food waste, mixed packaging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105156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1188720"/>
            <a:ext cx="502920" cy="502920"/>
          </a:xfrm>
          <a:prstGeom prst="oval">
            <a:avLst/>
          </a:prstGeom>
          <a:solidFill>
            <a:srgbClr val="CCFB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801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&amp; Manufacturing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29000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scrap, paint waste, ASR, FRP composites, multi-layer packaging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26480" y="105156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86600" y="1188720"/>
            <a:ext cx="502920" cy="502920"/>
          </a:xfrm>
          <a:prstGeom prst="oval">
            <a:avLst/>
          </a:prstGeom>
          <a:solidFill>
            <a:srgbClr val="CCFBF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2801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Tyres &amp; Rubber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63640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End-of-life tyres into oil, carbon black, and steel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" y="288036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417320" y="3017520"/>
            <a:ext cx="502920" cy="502920"/>
          </a:xfrm>
          <a:prstGeom prst="oval">
            <a:avLst/>
          </a:prstGeom>
          <a:solidFill>
            <a:srgbClr val="CCFBF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31089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57200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&amp; Sanitary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9436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Contaminated plastics, PPE, pharmaceutical blister packs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291840" y="288036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251960" y="3017520"/>
            <a:ext cx="502920" cy="502920"/>
          </a:xfrm>
          <a:prstGeom prst="oval">
            <a:avLst/>
          </a:prstGeom>
          <a:solidFill>
            <a:srgbClr val="CCFBF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1089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291840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&amp; Quarantine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42900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ICAO-regulated aircraft cabin waste requiring sanitisation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126480" y="288036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086600" y="3017520"/>
            <a:ext cx="502920" cy="502920"/>
          </a:xfrm>
          <a:prstGeom prst="oval">
            <a:avLst/>
          </a:prstGeom>
          <a:solidFill>
            <a:srgbClr val="CCFBF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310896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126480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6364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 waste, agricultural film, pesticide containers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|  Versatility: Managing Non-Recyclable and Composite Materials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Line — From 1 T/day to 200 T/day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2286000"/>
                <a:gridCol w="3200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(stationary)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40-foot container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URT-10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(mobile)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10-tonne truck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URB-50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industrial 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URC-400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T/day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(7-stage)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2,700 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URC-1000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T/day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(7-stage)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Mid-scale municipal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URC-2000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T/day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(7-stage)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4,650 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mass-produced in 7 sections. Transported by truck. Lead time: 10 months (continuous), 6 months (batch). 5x URC-2000 = 1,000 T/day on 28,900 m².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Opportunities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Business Cases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|  Market Opportunities and Business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Addressable Feedstock Segments — France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914400"/>
                <a:gridCol w="1371600"/>
                <a:gridCol w="3017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Volume/yr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Yield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Plastics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~2.2 MT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70-82%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€60-120/T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MSW (residual)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~21.6 MT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20-66%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€80-180/T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End-of-Life Tyres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~530K 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€0-50/T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 / Quarantine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~80-100K 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€120-200/T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(CDG)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/ DASRI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~700K 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€800-1,500/T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Shredder Residue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~200-350K 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€100-200/T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Composites / Multi-layer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~500K+ 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€80-150/T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strategy: MSW/airport waste as baseload + high-margin batches (industrial plastics, tyres, medical).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ADEME 2022; Aliapur; ETRMA; Eurostat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|  Market Opportunities and Business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Case: CDG Airport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8862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3886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789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Sources (80-100K T/year)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cabin waste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645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waste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057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Catering/quarantine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&amp; logistics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291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1051560"/>
            <a:ext cx="38862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051560"/>
            <a:ext cx="38862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10789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Feedstock Composition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Organic: 38.4%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6636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 (carbide)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Card, Wood: 37.9%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 + off-gas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Plastics &amp; Polymers: 23.7%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oil (4 fractions)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Revenues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|  Business Model and Revenues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Revenue Streams from a Single Waste Input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51560"/>
          <a:ext cx="4114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9144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Stream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(Year 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fees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€5.3M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sales (3 fractions)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€6.3M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Char/biochar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Metals &amp; recyclables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 credits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€16.1M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URC-2000: 200 T/day nominal, 140 T/day actual, 46,200 T/year at 330 days.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|  Business Model and Revenues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Requirements and Returns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886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3886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789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Breakdown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URC-2000 equipment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1600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€50.0M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892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site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1892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€5.0M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185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freight, training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21854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€0.9M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4780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&amp; spares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24780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€2.0M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770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Pre-sorting equipment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27706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€1.1M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063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Post-sorting equipment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3063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€0.4M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355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engineering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0" y="33558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€1.4M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648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(5%)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0" y="3648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€3.0M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922776"/>
            <a:ext cx="3657600" cy="9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410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0" y="39410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€63.8M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1051560"/>
            <a:ext cx="3886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1051560"/>
            <a:ext cx="38862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10789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Returns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1600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€8.9M/yr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75120" y="1600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margin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83480" y="2130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years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75120" y="2130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Payback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75120" y="2313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/ EBITDA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83480" y="2660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years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75120" y="26609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Payback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0" y="2843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debt service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83480" y="31912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75120" y="31912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breakeven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0" y="3374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FCF positive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83480" y="3721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17.6%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675120" y="3721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Equity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75120" y="39044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UR-Financial-Model-Restructured-V3.xlsx. Financing: 70% debt at 12% / 10yr, 30% equity.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|  Business Model and Revenues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Oil Pricing Scenarios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371600"/>
          <a:ext cx="33832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EUR/T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EUR/L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Optimistic (ISCC)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303520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ISCC-certified waste-derived oil commands a growing premium over fossil equivalents.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Analysis: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SWOT, Porter’s, PESTEL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|  Strategic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SWOT Analysis — Urban Rig in France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023360" cy="18288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4416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Patented technology — zero dioxin emissions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sorting required — processes mixed waste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marketable oil fractions + biochar + metals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Industrial-scale proven (Japan, China)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revenue streams per plant, 55% EBITDA margin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023360" cy="18288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60120"/>
            <a:ext cx="402336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34416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CAPEX (€63.8M per URC-2000 plant)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European track record yet — first deployment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lead time (10-18 months to operational)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Japanese manufacturing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regulatory approval process (ICPE)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8288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402336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260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31012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2035 mandate: 65% recycling, max 10% landfill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France: 21.6M T/yr incinerated or landfilled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ISCC certification for premium oil pricing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carbon credit market in EU ETS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CDG Airport: single-site captive 80-100K T/yr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0600" y="2926080"/>
            <a:ext cx="4023360" cy="18288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926080"/>
            <a:ext cx="4023360" cy="3474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9260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31012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incineration lobby and long-term contracts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oil prices affecting revenue forecasts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Permitting delays and NIMBY opposition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pyrolysis technologies emerging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uncertainty on waste-to-energy policy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|  Strategic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Porter’s Five Forces — Waste-to-Resource in France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383280" y="2011680"/>
            <a:ext cx="2377440" cy="1463040"/>
          </a:xfrm>
          <a:prstGeom prst="oval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0" y="2057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25603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MODERATE-HIGH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Incinerators dominate but face rising regulatory pressure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0" y="868680"/>
            <a:ext cx="32918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0" y="868680"/>
            <a:ext cx="329184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896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of New Entrants — 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1188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CAPEX barrier (€60M+), long permitting (ICPE), patented technology advantage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26080" y="3703320"/>
            <a:ext cx="32918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0" y="4636008"/>
            <a:ext cx="329184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3730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of Substitutes — MODERATE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Incineration, landfill, mechanical recycling — but none handles mixed unsorted waste profitably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965960"/>
            <a:ext cx="2880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965960"/>
            <a:ext cx="54864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Power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468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is abundant and municipalities pay to dispose. Gate fees = negative cost of raw material.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989320" y="1965960"/>
            <a:ext cx="2880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14816" y="1965960"/>
            <a:ext cx="54864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Power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24688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buyers have alternatives (fossil fuels), but ISCC-certified waste oil commands premiums. Carbon credits sold on regulated EU ETS.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|  Strategic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PESTEL Analysis — France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65760" cy="365760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Green Deal and Circular Economy Package drive policy. France's AGEC law (2020) bans destruction of unsold goods. Strong public investment in waste infrastructure.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97280"/>
            <a:ext cx="365760" cy="36576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508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landfill taxes (€65/T by 2025). Gate fees €80-180/T for MSW. Growing EU ETS carbon price (~€60-80/T CO₂). Oil price volatility creates both risk and opportunity.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097280"/>
            <a:ext cx="365760" cy="365760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508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public demand for alternatives to incineration. NIMBY resistance to new waste facilities. Growing environmental consciousness. Circular economy gaining mainstream support.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63240"/>
            <a:ext cx="365760" cy="36576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Pyrolysis technology maturing globally. Urban Rig’s patent protection (superheated steam). ISCC certification enables premium markets. Competing technologies still require pre-sorting.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46120" y="29260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3063240"/>
            <a:ext cx="365760" cy="365760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4048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34747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mandate: 65% recycling, max 10% landfill by 2035. Zero dioxin process aligns with air quality standards. Carbon credit eligibility via CO₂ avoidance. Closed-loop water system.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72200" y="29260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3063240"/>
            <a:ext cx="365760" cy="365760"/>
          </a:xfrm>
          <a:prstGeom prst="oval">
            <a:avLst/>
          </a:prstGeom>
          <a:solidFill>
            <a:srgbClr val="EA580C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6656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9360" y="34747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ICPE classification required for industrial waste plants in France. EU Waste Framework Directive 2018/851. REACh compliance for chemical outputs. End-of-waste criteria for oil products.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Become a Partner?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|  How to Become a Partner?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 Model and Engagement Process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partnership model is open by design. Site, feedstock strategy, scale, operating team, and capital structure are the investor’s design space. Urban Rig brings the technology, the IP, and a configurable financial model.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1691640"/>
            <a:ext cx="640080" cy="64008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600200" y="2011680"/>
            <a:ext cx="5029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objectives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weeks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87752" y="1691640"/>
            <a:ext cx="640080" cy="64008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587752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19272" y="2011680"/>
            <a:ext cx="5029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2176272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Dev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76272" y="2788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Co-create options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4-8 weeks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06824" y="1691640"/>
            <a:ext cx="640080" cy="64008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306824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38344" y="2011680"/>
            <a:ext cx="5029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895344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95344" y="2788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review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months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25896" y="1691640"/>
            <a:ext cx="640080" cy="64008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025896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757416" y="2011680"/>
            <a:ext cx="5029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614416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14416" y="2788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terms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close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44968" y="1691640"/>
            <a:ext cx="640080" cy="64008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744968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33488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33488" y="2788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 months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builds confidence progressively — with independent technical validation commissioned jointly.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Awards and Credentials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|  Awards and Credentials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Validation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Asada Shokai Industrial 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Noda factory, Chiba Prefecture, 2022. Industrial-scale trial across 9 resin types. Independent measurement by Land Brain Co., Ltd.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KANSO Technos Emissions Certification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exhaust gas analysis: emissions 5-50x below French incineration standards.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8600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NKKK Oil Quality Certification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651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Marine Survey Association: flashpoint 46°C, sulfur &lt;0.2%, 43.27 MJ/kg.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28600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28600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Waste Zero Award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651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category, Japan Foundation / Ministry of the Environment (June 2019).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56616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‘Plastics Smart’ Designation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Economy, Trade and Industry, Japan.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5661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56616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Operations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plant in Shandong Qufu (China) using recovered diesel oil as operational fuel.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 Rig Europe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8288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Stephane Husser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Director, Urban Rig Europe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stephanehusser@tapiscorp.com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March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Rig Europe — Business Plan</dc:title>
  <dc:subject>PptxGenJS Presentation</dc:subject>
  <dc:creator>Stephane Husser</dc:creator>
  <cp:lastModifiedBy>Stephane Husser</cp:lastModifiedBy>
  <cp:revision>1</cp:revision>
  <dcterms:created xsi:type="dcterms:W3CDTF">2026-03-26T06:46:57Z</dcterms:created>
  <dcterms:modified xsi:type="dcterms:W3CDTF">2026-03-26T06:46:57Z</dcterms:modified>
</cp:coreProperties>
</file>